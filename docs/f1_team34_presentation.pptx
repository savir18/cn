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91337df-1478-36d4-f468-d22fa88f138b}">
          <p14:sldIdLst>
            <p14:sldId id="256"/>
            <p14:sldId id="257"/>
            <p14:sldId id="258"/>
          </p14:sldIdLst>
        </p14:section>
        <p14:section name="Method" id="{f4488e1c-14ea-58b8-840b-3b64e0c503d4}">
          <p14:sldIdLst>
            <p14:sldId id="259"/>
            <p14:sldId id="260"/>
            <p14:sldId id="261"/>
            <p14:sldId id="262"/>
            <p14:sldId id="263"/>
          </p14:sldIdLst>
        </p14:section>
        <p14:section name="Results" id="{37504894-378a-43f3-b496-31c26557cea7}">
          <p14:sldIdLst>
            <p14:sldId id="264"/>
            <p14:sldId id="265"/>
            <p14:sldId id="266"/>
            <p14:sldId id="267"/>
          </p14:sldIdLst>
        </p14:section>
        <p14:section name="Close" id="{b475a1ae-6665-5d20-cb00-cd18d1ca496a}">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browser simulator with eight labs that follow the syllabus. Everything shown today runs from one HTML file,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and motivation. The students need to see protocol behaviour change with conditions. The tools that can do that are either heavy or not available. So the goal was a lightweight, correct, repeatable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approach and its gap. Be fair: ns-3 and Mininet are better for research accuracy. This project does not compete on accuracy, it competes on time-to-first-result and on showing both mechanisms next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novelty. Be honest: no new protocol. The contribution is the integrated, verified, reproducible tool that shows baseline against improvement. Expect a question on this and answer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key design choice is that calculations never touch the DOM. That is what makes the 78 tests and the 30-seed experiment runner possible with the same code that runs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setup: tools and versions. Mention that anyone can clone the repository, open one file and run the same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The other four labs are error detection, multiple access, subnetting and TCP congestion. Offer to open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and metrics. Every comparison gives both mechanisms the same loss events, traffic or topology. The runner is scripts/f1_team34_experiments.js and reproduces every number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Routing lab, choose Three in a line, break the link B to C and run until stable. Then switch the fix to split horizon. Caveat to say out loud: split horizon only stops two-router loops. It does not fix loops in a general mesh, and the chain does not test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Go-Back-N repeats the whole window after a loss, so its waste grows with loss. SR retransmits close to the loss probability. Setup: 200 frames, window 8, Tp = 2 frame times, ACKs not lost. Standard deviations do not overlap in S2 and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TCP congestion, Window lab, default scenario. Tahoe 245 segments, Reno 304 (+24%). The 30-seed table is in the report. Be upfront that the direction is consistent but the percentage is model-dependent.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Queuing and QoS. FIFO is the default: voice spikes appear because they wait behind 1500 byte data packets. Click Priority, then WFQ. WFQ is preferred in practice because bulk traffic cannot be starved. A call counts as good with p95 delay under 150 ms, jitter under 30 ms, loss under 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the simulations are right? Four known results the code must reproduce, plus invariants. Run the test command live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and limitations. Say the limits yourself before you are asked. The TCP percentages are model-dependent. No learning study was done, so the tool is not claimed to improve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summarise in one breath, then name the one real gap: Unit 7 has no lab, and a DNS lab is the next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 Offer to open any lab that was not demoed, for example Error detection, which shows Hamming, CRC and checksum step by step. Full reference list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txBox="1"/>
          <p:nvPr/>
        </p:nvSpPr>
        <p:spPr>
          <a:xfrm>
            <a:off x="731520" y="635508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Protocol Lab · Savir Ghai · 24BCT0309 · F1_Team34</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Protocol Lab · Savir Ghai · 24BCT0309 · F1_Team34</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2011680"/>
          </a:xfrm>
          <a:prstGeom prst="rect">
            <a:avLst/>
          </a:prstGeom>
          <a:noFill/>
          <a:ln/>
        </p:spPr>
        <p:txBody>
          <a:bodyPr wrap="square" lIns="0" tIns="0" rIns="0" bIns="0" rtlCol="0" anchor="t"/>
          <a:lstStyle/>
          <a:p>
            <a:pPr algn="l" indent="0" marL="0">
              <a:buNone/>
            </a:pPr>
            <a:r>
              <a:rPr lang="en-US" sz="4400" b="1" dirty="0">
                <a:solidFill>
                  <a:schemeClr val="bg1"/>
                </a:solidFill>
              </a:rPr>
              <a:t>Protocol Lab: An Interactive Computer Networks Simulator</a:t>
            </a:r>
            <a:endParaRPr lang="en-US" sz="4400" dirty="0"/>
          </a:p>
        </p:txBody>
      </p:sp>
      <p:sp>
        <p:nvSpPr>
          <p:cNvPr id="3" name="Text 1"/>
          <p:cNvSpPr txBox="1"/>
          <p:nvPr/>
        </p:nvSpPr>
        <p:spPr>
          <a:xfrm>
            <a:off x="731520" y="2926080"/>
            <a:ext cx="6583680" cy="457200"/>
          </a:xfrm>
          <a:prstGeom prst="rect">
            <a:avLst/>
          </a:prstGeom>
          <a:noFill/>
          <a:ln/>
        </p:spPr>
        <p:txBody>
          <a:bodyPr wrap="square" lIns="0" tIns="0" rIns="0" bIns="0" rtlCol="0" anchor="t"/>
          <a:lstStyle/>
          <a:p>
            <a:pPr indent="0" marL="0">
              <a:buNone/>
            </a:pPr>
            <a:r>
              <a:rPr lang="en-US" sz="2200" i="1" dirty="0">
                <a:solidFill>
                  <a:schemeClr val="accent5"/>
                </a:solidFill>
              </a:rPr>
              <a:t>Watch network protocols work, then break them.</a:t>
            </a:r>
            <a:endParaRPr lang="en-US" sz="2200" dirty="0"/>
          </a:p>
        </p:txBody>
      </p:sp>
      <p:sp>
        <p:nvSpPr>
          <p:cNvPr id="4" name="Text 2"/>
          <p:cNvSpPr txBox="1"/>
          <p:nvPr/>
        </p:nvSpPr>
        <p:spPr>
          <a:xfrm>
            <a:off x="731520" y="4114800"/>
            <a:ext cx="6400800" cy="137160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Savir Ghai · 24BCT0309</a:t>
            </a:r>
            <a:endParaRPr lang="en-US" sz="1800" dirty="0"/>
          </a:p>
          <a:p>
            <a:pPr indent="0" marL="0">
              <a:spcAft>
                <a:spcPts val="600"/>
              </a:spcAft>
              <a:buNone/>
            </a:pPr>
            <a:r>
              <a:rPr lang="en-US" sz="1800" dirty="0">
                <a:solidFill>
                  <a:schemeClr val="bg1"/>
                </a:solidFill>
              </a:rPr>
              <a:t>Team F1_Team34 · BCSE308P Computer Networks Lab</a:t>
            </a:r>
            <a:endParaRPr lang="en-US" sz="1800" dirty="0"/>
          </a:p>
          <a:p>
            <a:pPr indent="0" marL="0">
              <a:spcAft>
                <a:spcPts val="600"/>
              </a:spcAft>
              <a:buNone/>
            </a:pPr>
            <a:r>
              <a:rPr lang="en-US" sz="1800" dirty="0">
                <a:solidFill>
                  <a:schemeClr val="bg1"/>
                </a:solidFill>
              </a:rPr>
              <a:t>Faculty: Prof. Sreethar S</a:t>
            </a:r>
            <a:endParaRPr lang="en-US" sz="1800" dirty="0"/>
          </a:p>
        </p:txBody>
      </p:sp>
      <p:pic>
        <p:nvPicPr>
          <p:cNvPr id="5" name="title screenshot" descr="The Routing lab of Protocol Lab">    </p:cNvPr>
          <p:cNvPicPr>
            <a:picLocks noChangeAspect="1"/>
          </p:cNvPicPr>
          <p:nvPr/>
        </p:nvPicPr>
        <p:blipFill>
          <a:blip r:embed="rId1"/>
          <a:stretch>
            <a:fillRect/>
          </a:stretch>
        </p:blipFill>
        <p:spPr>
          <a:xfrm>
            <a:off x="7680960" y="3131820"/>
            <a:ext cx="4023360" cy="2514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Protocols are taught as pictures</a:t>
            </a:r>
            <a:endParaRPr lang="en-US" sz="3400" dirty="0"/>
          </a:p>
        </p:txBody>
      </p:sp>
      <p:sp>
        <p:nvSpPr>
          <p:cNvPr id="3" name="problem card 1"/>
          <p:cNvSpPr/>
          <p:nvPr/>
        </p:nvSpPr>
        <p:spPr>
          <a:xfrm>
            <a:off x="548640" y="1463040"/>
            <a:ext cx="6035040" cy="1371600"/>
          </a:xfrm>
          <a:prstGeom prst="roundRect">
            <a:avLst>
              <a:gd name="adj" fmla="val 5333"/>
            </a:avLst>
          </a:prstGeom>
          <a:solidFill>
            <a:schemeClr val="bg2"/>
          </a:solidFill>
          <a:ln w="6350">
            <a:solidFill>
              <a:schemeClr val="bg2"/>
            </a:solidFill>
            <a:prstDash val="solid"/>
          </a:ln>
        </p:spPr>
      </p:sp>
      <p:sp>
        <p:nvSpPr>
          <p:cNvPr id="4" name="Text 2"/>
          <p:cNvSpPr txBox="1"/>
          <p:nvPr/>
        </p:nvSpPr>
        <p:spPr>
          <a:xfrm>
            <a:off x="822960" y="1600200"/>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diagram shows one case</a:t>
            </a:r>
            <a:endParaRPr lang="en-US" sz="2000" dirty="0"/>
          </a:p>
        </p:txBody>
      </p:sp>
      <p:sp>
        <p:nvSpPr>
          <p:cNvPr id="5" name="Text 3"/>
          <p:cNvSpPr txBox="1"/>
          <p:nvPr/>
        </p:nvSpPr>
        <p:spPr>
          <a:xfrm>
            <a:off x="822960" y="2029968"/>
            <a:ext cx="5486400" cy="731520"/>
          </a:xfrm>
          <a:prstGeom prst="rect">
            <a:avLst/>
          </a:prstGeom>
          <a:noFill/>
          <a:ln/>
        </p:spPr>
        <p:txBody>
          <a:bodyPr wrap="square" lIns="0" tIns="0" rIns="0" bIns="0" rtlCol="0" anchor="t"/>
          <a:lstStyle/>
          <a:p>
            <a:pPr indent="0" marL="0">
              <a:buNone/>
            </a:pPr>
            <a:r>
              <a:rPr lang="en-US" sz="1500" dirty="0">
                <a:solidFill>
                  <a:schemeClr val="accent4"/>
                </a:solidFill>
              </a:rPr>
              <a:t>What happens to Go-Back-N when loss goes from 2% to 20%? A textbook figure cannot say.</a:t>
            </a:r>
            <a:endParaRPr lang="en-US" sz="1500" dirty="0"/>
          </a:p>
        </p:txBody>
      </p:sp>
      <p:sp>
        <p:nvSpPr>
          <p:cNvPr id="6" name="problem card 2"/>
          <p:cNvSpPr/>
          <p:nvPr/>
        </p:nvSpPr>
        <p:spPr>
          <a:xfrm>
            <a:off x="548640" y="3017520"/>
            <a:ext cx="6035040" cy="1371600"/>
          </a:xfrm>
          <a:prstGeom prst="roundRect">
            <a:avLst>
              <a:gd name="adj" fmla="val 5333"/>
            </a:avLst>
          </a:prstGeom>
          <a:solidFill>
            <a:schemeClr val="bg2"/>
          </a:solidFill>
          <a:ln w="6350">
            <a:solidFill>
              <a:schemeClr val="bg2"/>
            </a:solidFill>
            <a:prstDash val="solid"/>
          </a:ln>
        </p:spPr>
      </p:sp>
      <p:sp>
        <p:nvSpPr>
          <p:cNvPr id="7" name="Text 5"/>
          <p:cNvSpPr txBox="1"/>
          <p:nvPr/>
        </p:nvSpPr>
        <p:spPr>
          <a:xfrm>
            <a:off x="822960" y="3154680"/>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Real simulators are heavy</a:t>
            </a:r>
            <a:endParaRPr lang="en-US" sz="2000" dirty="0"/>
          </a:p>
        </p:txBody>
      </p:sp>
      <p:sp>
        <p:nvSpPr>
          <p:cNvPr id="8" name="Text 6"/>
          <p:cNvSpPr txBox="1"/>
          <p:nvPr/>
        </p:nvSpPr>
        <p:spPr>
          <a:xfrm>
            <a:off x="822960" y="3584448"/>
            <a:ext cx="5486400" cy="731520"/>
          </a:xfrm>
          <a:prstGeom prst="rect">
            <a:avLst/>
          </a:prstGeom>
          <a:noFill/>
          <a:ln/>
        </p:spPr>
        <p:txBody>
          <a:bodyPr wrap="square" lIns="0" tIns="0" rIns="0" bIns="0" rtlCol="0" anchor="t"/>
          <a:lstStyle/>
          <a:p>
            <a:pPr indent="0" marL="0">
              <a:buNone/>
            </a:pPr>
            <a:r>
              <a:rPr lang="en-US" sz="1500" dirty="0">
                <a:solidFill>
                  <a:schemeClr val="accent4"/>
                </a:solidFill>
              </a:rPr>
              <a:t>ns-3 and Mininet need installation, scripting and time before a first result.</a:t>
            </a:r>
            <a:endParaRPr lang="en-US" sz="1500" dirty="0"/>
          </a:p>
        </p:txBody>
      </p:sp>
      <p:sp>
        <p:nvSpPr>
          <p:cNvPr id="9" name="problem card 3"/>
          <p:cNvSpPr/>
          <p:nvPr/>
        </p:nvSpPr>
        <p:spPr>
          <a:xfrm>
            <a:off x="548640" y="4572000"/>
            <a:ext cx="6035040" cy="1371600"/>
          </a:xfrm>
          <a:prstGeom prst="roundRect">
            <a:avLst>
              <a:gd name="adj" fmla="val 5333"/>
            </a:avLst>
          </a:prstGeom>
          <a:solidFill>
            <a:schemeClr val="bg2"/>
          </a:solidFill>
          <a:ln w="6350">
            <a:solidFill>
              <a:schemeClr val="bg2"/>
            </a:solidFill>
            <a:prstDash val="solid"/>
          </a:ln>
        </p:spPr>
      </p:sp>
      <p:sp>
        <p:nvSpPr>
          <p:cNvPr id="10" name="Text 8"/>
          <p:cNvSpPr txBox="1"/>
          <p:nvPr/>
        </p:nvSpPr>
        <p:spPr>
          <a:xfrm>
            <a:off x="822960" y="4709160"/>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Packet Tracer was not usable here</a:t>
            </a:r>
            <a:endParaRPr lang="en-US" sz="2000" dirty="0"/>
          </a:p>
        </p:txBody>
      </p:sp>
      <p:sp>
        <p:nvSpPr>
          <p:cNvPr id="11" name="Text 9"/>
          <p:cNvSpPr txBox="1"/>
          <p:nvPr/>
        </p:nvSpPr>
        <p:spPr>
          <a:xfrm>
            <a:off x="822960" y="5138928"/>
            <a:ext cx="5486400" cy="731520"/>
          </a:xfrm>
          <a:prstGeom prst="rect">
            <a:avLst/>
          </a:prstGeom>
          <a:noFill/>
          <a:ln/>
        </p:spPr>
        <p:txBody>
          <a:bodyPr wrap="square" lIns="0" tIns="0" rIns="0" bIns="0" rtlCol="0" anchor="t"/>
          <a:lstStyle/>
          <a:p>
            <a:pPr indent="0" marL="0">
              <a:buNone/>
            </a:pPr>
            <a:r>
              <a:rPr lang="en-US" sz="1500" dirty="0">
                <a:solidFill>
                  <a:schemeClr val="accent4"/>
                </a:solidFill>
              </a:rPr>
              <a:t>And it hides protocol internals such as the sender window.</a:t>
            </a:r>
            <a:endParaRPr lang="en-US" sz="1500" dirty="0"/>
          </a:p>
        </p:txBody>
      </p:sp>
      <p:pic>
        <p:nvPicPr>
          <p:cNvPr id="12" name="overview screenshot" descr="Protocol Lab landing page">    </p:cNvPr>
          <p:cNvPicPr>
            <a:picLocks noChangeAspect="1"/>
          </p:cNvPicPr>
          <p:nvPr/>
        </p:nvPicPr>
        <p:blipFill>
          <a:blip r:embed="rId1"/>
          <a:stretch>
            <a:fillRect/>
          </a:stretch>
        </p:blipFill>
        <p:spPr>
          <a:xfrm>
            <a:off x="6949440" y="2217420"/>
            <a:ext cx="4754880" cy="297180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Existing approaches and the gap they leave</a:t>
            </a:r>
            <a:endParaRPr lang="en-US" sz="3400" dirty="0"/>
          </a:p>
        </p:txBody>
      </p:sp>
      <p:graphicFrame>
        <p:nvGraphicFramePr>
          <p:cNvPr id="4" name="existing approach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926080"/>
                <a:gridCol w="3291840"/>
                <a:gridCol w="4846320"/>
              </a:tblGrid>
              <a:tr h="566928">
                <a:tc>
                  <a:txBody>
                    <a:bodyPr/>
                    <a:lstStyle/>
                    <a:p>
                      <a:pPr indent="0" marL="0">
                        <a:buNone/>
                      </a:pPr>
                      <a:r>
                        <a:rPr lang="en-US" sz="1400" b="1" dirty="0">
                          <a:solidFill>
                            <a:schemeClr val="bg1"/>
                          </a:solidFill>
                        </a:rPr>
                        <a:t>Approach</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Strength</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Gap</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300" b="1" dirty="0">
                          <a:solidFill>
                            <a:schemeClr val="tx1"/>
                          </a:solidFill>
                        </a:rPr>
                        <a:t>Textbooks and slides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Reliable explanations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Fixed examples; cannot be re-run with other parameters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ns-3 (Henderson 2008)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Accurate, standard in research</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Install, C++ or Python scripting, slow to try one idea</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Mininet (Lantz 2010)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Runs real network software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Linux and command line; not a view of protocol state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Cisco Packet Tracer</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Topology and CLI practice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Not usable in this project; internals hidden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gap callout"/>
          <p:cNvSpPr/>
          <p:nvPr/>
        </p:nvSpPr>
        <p:spPr>
          <a:xfrm>
            <a:off x="548640" y="4572000"/>
            <a:ext cx="11064240" cy="1371600"/>
          </a:xfrm>
          <a:prstGeom prst="roundRect">
            <a:avLst>
              <a:gd name="adj" fmla="val 5333"/>
            </a:avLst>
          </a:prstGeom>
          <a:solidFill>
            <a:schemeClr val="accent1"/>
          </a:solidFill>
          <a:ln w="6350">
            <a:solidFill>
              <a:schemeClr val="bg2"/>
            </a:solidFill>
            <a:prstDash val="solid"/>
          </a:ln>
        </p:spPr>
      </p:sp>
      <p:sp>
        <p:nvSpPr>
          <p:cNvPr id="5" name="Text 2"/>
          <p:cNvSpPr txBox="1"/>
          <p:nvPr/>
        </p:nvSpPr>
        <p:spPr>
          <a:xfrm>
            <a:off x="868680" y="4709160"/>
            <a:ext cx="2743200" cy="365760"/>
          </a:xfrm>
          <a:prstGeom prst="rect">
            <a:avLst/>
          </a:prstGeom>
          <a:noFill/>
          <a:ln/>
        </p:spPr>
        <p:txBody>
          <a:bodyPr wrap="square" lIns="0" tIns="0" rIns="0" bIns="0" rtlCol="0" anchor="t"/>
          <a:lstStyle/>
          <a:p>
            <a:pPr indent="0" marL="0">
              <a:buNone/>
            </a:pPr>
            <a:r>
              <a:rPr lang="en-US" sz="1400" b="1" dirty="0">
                <a:solidFill>
                  <a:schemeClr val="bg1"/>
                </a:solidFill>
              </a:rPr>
              <a:t>The gap</a:t>
            </a:r>
            <a:endParaRPr lang="en-US" sz="1400" dirty="0"/>
          </a:p>
        </p:txBody>
      </p:sp>
      <p:sp>
        <p:nvSpPr>
          <p:cNvPr id="6" name="Text 3"/>
          <p:cNvSpPr txBox="1"/>
          <p:nvPr/>
        </p:nvSpPr>
        <p:spPr>
          <a:xfrm>
            <a:off x="868680" y="5074920"/>
            <a:ext cx="10424160" cy="77724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Nothing lightweight shows the baseline and the improved mechanism side by side, on identical input, with results you can trust and repeat.</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The novelty is the combination, not a new protocol</a:t>
            </a:r>
            <a:endParaRPr lang="en-US" sz="3400" dirty="0"/>
          </a:p>
        </p:txBody>
      </p:sp>
      <p:sp>
        <p:nvSpPr>
          <p:cNvPr id="3" name="novelty card 1"/>
          <p:cNvSpPr/>
          <p:nvPr/>
        </p:nvSpPr>
        <p:spPr>
          <a:xfrm>
            <a:off x="548640" y="1463040"/>
            <a:ext cx="5440680" cy="1828800"/>
          </a:xfrm>
          <a:prstGeom prst="roundRect">
            <a:avLst>
              <a:gd name="adj" fmla="val 4000"/>
            </a:avLst>
          </a:prstGeom>
          <a:solidFill>
            <a:schemeClr val="bg2"/>
          </a:solidFill>
          <a:ln w="6350">
            <a:solidFill>
              <a:schemeClr val="bg2"/>
            </a:solidFill>
            <a:prstDash val="solid"/>
          </a:ln>
        </p:spPr>
      </p:sp>
      <p:sp>
        <p:nvSpPr>
          <p:cNvPr id="4" name="Text 2"/>
          <p:cNvSpPr txBox="1"/>
          <p:nvPr/>
        </p:nvSpPr>
        <p:spPr>
          <a:xfrm>
            <a:off x="822960" y="1691640"/>
            <a:ext cx="484632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Zero install</a:t>
            </a:r>
            <a:endParaRPr lang="en-US" sz="2400" dirty="0"/>
          </a:p>
        </p:txBody>
      </p:sp>
      <p:sp>
        <p:nvSpPr>
          <p:cNvPr id="5" name="Text 3"/>
          <p:cNvSpPr txBox="1"/>
          <p:nvPr/>
        </p:nvSpPr>
        <p:spPr>
          <a:xfrm>
            <a:off x="822960" y="2286000"/>
            <a:ext cx="4846320" cy="822960"/>
          </a:xfrm>
          <a:prstGeom prst="rect">
            <a:avLst/>
          </a:prstGeom>
          <a:noFill/>
          <a:ln/>
        </p:spPr>
        <p:txBody>
          <a:bodyPr wrap="square" lIns="0" tIns="0" rIns="0" bIns="0" rtlCol="0" anchor="t"/>
          <a:lstStyle/>
          <a:p>
            <a:pPr indent="0" marL="0">
              <a:buNone/>
            </a:pPr>
            <a:r>
              <a:rPr lang="en-US" sz="1700" dirty="0">
                <a:solidFill>
                  <a:schemeClr val="tx1"/>
                </a:solidFill>
              </a:rPr>
              <a:t>One HTML page. No framework, no build, no server, works offline.</a:t>
            </a:r>
            <a:endParaRPr lang="en-US" sz="1700" dirty="0"/>
          </a:p>
        </p:txBody>
      </p:sp>
      <p:sp>
        <p:nvSpPr>
          <p:cNvPr id="6" name="novelty card 2"/>
          <p:cNvSpPr/>
          <p:nvPr/>
        </p:nvSpPr>
        <p:spPr>
          <a:xfrm>
            <a:off x="6172200" y="1463040"/>
            <a:ext cx="5440680" cy="1828800"/>
          </a:xfrm>
          <a:prstGeom prst="roundRect">
            <a:avLst>
              <a:gd name="adj" fmla="val 4000"/>
            </a:avLst>
          </a:prstGeom>
          <a:solidFill>
            <a:schemeClr val="bg2"/>
          </a:solidFill>
          <a:ln w="6350">
            <a:solidFill>
              <a:schemeClr val="bg2"/>
            </a:solidFill>
            <a:prstDash val="solid"/>
          </a:ln>
        </p:spPr>
      </p:sp>
      <p:sp>
        <p:nvSpPr>
          <p:cNvPr id="7" name="Text 5"/>
          <p:cNvSpPr txBox="1"/>
          <p:nvPr/>
        </p:nvSpPr>
        <p:spPr>
          <a:xfrm>
            <a:off x="6446520" y="1691640"/>
            <a:ext cx="484632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Side by side</a:t>
            </a:r>
            <a:endParaRPr lang="en-US" sz="2400" dirty="0"/>
          </a:p>
        </p:txBody>
      </p:sp>
      <p:sp>
        <p:nvSpPr>
          <p:cNvPr id="8" name="Text 6"/>
          <p:cNvSpPr txBox="1"/>
          <p:nvPr/>
        </p:nvSpPr>
        <p:spPr>
          <a:xfrm>
            <a:off x="6446520" y="2286000"/>
            <a:ext cx="4846320" cy="822960"/>
          </a:xfrm>
          <a:prstGeom prst="rect">
            <a:avLst/>
          </a:prstGeom>
          <a:noFill/>
          <a:ln/>
        </p:spPr>
        <p:txBody>
          <a:bodyPr wrap="square" lIns="0" tIns="0" rIns="0" bIns="0" rtlCol="0" anchor="t"/>
          <a:lstStyle/>
          <a:p>
            <a:pPr indent="0" marL="0">
              <a:buNone/>
            </a:pPr>
            <a:r>
              <a:rPr lang="en-US" sz="1700" dirty="0">
                <a:solidFill>
                  <a:schemeClr val="tx1"/>
                </a:solidFill>
              </a:rPr>
              <a:t>Baseline and improvement run on identical seeded input.</a:t>
            </a:r>
            <a:endParaRPr lang="en-US" sz="1700" dirty="0"/>
          </a:p>
        </p:txBody>
      </p:sp>
      <p:sp>
        <p:nvSpPr>
          <p:cNvPr id="9" name="novelty card 3"/>
          <p:cNvSpPr/>
          <p:nvPr/>
        </p:nvSpPr>
        <p:spPr>
          <a:xfrm>
            <a:off x="548640" y="3474720"/>
            <a:ext cx="5440680" cy="1828800"/>
          </a:xfrm>
          <a:prstGeom prst="roundRect">
            <a:avLst>
              <a:gd name="adj" fmla="val 4000"/>
            </a:avLst>
          </a:prstGeom>
          <a:solidFill>
            <a:schemeClr val="bg2"/>
          </a:solidFill>
          <a:ln w="6350">
            <a:solidFill>
              <a:schemeClr val="bg2"/>
            </a:solidFill>
            <a:prstDash val="solid"/>
          </a:ln>
        </p:spPr>
      </p:sp>
      <p:sp>
        <p:nvSpPr>
          <p:cNvPr id="10" name="Text 8"/>
          <p:cNvSpPr txBox="1"/>
          <p:nvPr/>
        </p:nvSpPr>
        <p:spPr>
          <a:xfrm>
            <a:off x="822960" y="3703320"/>
            <a:ext cx="484632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Verified</a:t>
            </a:r>
            <a:endParaRPr lang="en-US" sz="2400" dirty="0"/>
          </a:p>
        </p:txBody>
      </p:sp>
      <p:sp>
        <p:nvSpPr>
          <p:cNvPr id="11" name="Text 9"/>
          <p:cNvSpPr txBox="1"/>
          <p:nvPr/>
        </p:nvSpPr>
        <p:spPr>
          <a:xfrm>
            <a:off x="822960" y="4297680"/>
            <a:ext cx="4846320" cy="822960"/>
          </a:xfrm>
          <a:prstGeom prst="rect">
            <a:avLst/>
          </a:prstGeom>
          <a:noFill/>
          <a:ln/>
        </p:spPr>
        <p:txBody>
          <a:bodyPr wrap="square" lIns="0" tIns="0" rIns="0" bIns="0" rtlCol="0" anchor="t"/>
          <a:lstStyle/>
          <a:p>
            <a:pPr indent="0" marL="0">
              <a:buNone/>
            </a:pPr>
            <a:r>
              <a:rPr lang="en-US" sz="1700" dirty="0">
                <a:solidFill>
                  <a:schemeClr val="tx1"/>
                </a:solidFill>
              </a:rPr>
              <a:t>78 automated tests, including four known-answer checks.</a:t>
            </a:r>
            <a:endParaRPr lang="en-US" sz="1700" dirty="0"/>
          </a:p>
        </p:txBody>
      </p:sp>
      <p:sp>
        <p:nvSpPr>
          <p:cNvPr id="12" name="novelty card 4"/>
          <p:cNvSpPr/>
          <p:nvPr/>
        </p:nvSpPr>
        <p:spPr>
          <a:xfrm>
            <a:off x="6172200" y="3474720"/>
            <a:ext cx="5440680" cy="1828800"/>
          </a:xfrm>
          <a:prstGeom prst="roundRect">
            <a:avLst>
              <a:gd name="adj" fmla="val 4000"/>
            </a:avLst>
          </a:prstGeom>
          <a:solidFill>
            <a:schemeClr val="bg2"/>
          </a:solidFill>
          <a:ln w="6350">
            <a:solidFill>
              <a:schemeClr val="bg2"/>
            </a:solidFill>
            <a:prstDash val="solid"/>
          </a:ln>
        </p:spPr>
      </p:sp>
      <p:sp>
        <p:nvSpPr>
          <p:cNvPr id="13" name="Text 11"/>
          <p:cNvSpPr txBox="1"/>
          <p:nvPr/>
        </p:nvSpPr>
        <p:spPr>
          <a:xfrm>
            <a:off x="6446520" y="3703320"/>
            <a:ext cx="484632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Reproducible</a:t>
            </a:r>
            <a:endParaRPr lang="en-US" sz="2400" dirty="0"/>
          </a:p>
        </p:txBody>
      </p:sp>
      <p:sp>
        <p:nvSpPr>
          <p:cNvPr id="14" name="Text 12"/>
          <p:cNvSpPr txBox="1"/>
          <p:nvPr/>
        </p:nvSpPr>
        <p:spPr>
          <a:xfrm>
            <a:off x="6446520" y="4297680"/>
            <a:ext cx="4846320" cy="822960"/>
          </a:xfrm>
          <a:prstGeom prst="rect">
            <a:avLst/>
          </a:prstGeom>
          <a:noFill/>
          <a:ln/>
        </p:spPr>
        <p:txBody>
          <a:bodyPr wrap="square" lIns="0" tIns="0" rIns="0" bIns="0" rtlCol="0" anchor="t"/>
          <a:lstStyle/>
          <a:p>
            <a:pPr indent="0" marL="0">
              <a:buNone/>
            </a:pPr>
            <a:r>
              <a:rPr lang="en-US" sz="1700" dirty="0">
                <a:solidFill>
                  <a:schemeClr val="tx1"/>
                </a:solidFill>
              </a:rPr>
              <a:t>Fixed seeds and a 30-seed runner give mean ± SD tables.</a:t>
            </a:r>
            <a:endParaRPr lang="en-US" sz="1700" dirty="0"/>
          </a:p>
        </p:txBody>
      </p:sp>
      <p:sp>
        <p:nvSpPr>
          <p:cNvPr id="15" name="Text 13"/>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500" i="1" dirty="0">
                <a:solidFill>
                  <a:schemeClr val="accent4"/>
                </a:solidFill>
              </a:rPr>
              <a:t>The mechanisms themselves (Selective Repeat, Reno, WFQ, split horizon) are classical. The report says so plainly.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Architecture: logic apart from the screen</a:t>
            </a:r>
            <a:endParaRPr lang="en-US" sz="3400" dirty="0"/>
          </a:p>
        </p:txBody>
      </p:sp>
      <p:pic>
        <p:nvPicPr>
          <p:cNvPr id="3" name="architecture diagram" descr="Architecture diagram: page, core, charts, eight lab modules, logic layer, tests">    </p:cNvPr>
          <p:cNvPicPr>
            <a:picLocks noChangeAspect="1"/>
          </p:cNvPicPr>
          <p:nvPr/>
        </p:nvPicPr>
        <p:blipFill>
          <a:blip r:embed="rId1"/>
          <a:stretch>
            <a:fillRect/>
          </a:stretch>
        </p:blipFill>
        <p:spPr>
          <a:xfrm>
            <a:off x="548640" y="1771323"/>
            <a:ext cx="6949440" cy="3772553"/>
          </a:xfrm>
          <a:prstGeom prst="rect">
            <a:avLst/>
          </a:prstGeom>
        </p:spPr>
      </p:pic>
      <p:sp>
        <p:nvSpPr>
          <p:cNvPr id="4" name="Text 1"/>
          <p:cNvSpPr txBox="1"/>
          <p:nvPr/>
        </p:nvSpPr>
        <p:spPr>
          <a:xfrm>
            <a:off x="7863840" y="1463040"/>
            <a:ext cx="374904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One page, eight modules</a:t>
            </a:r>
            <a:endParaRPr lang="en-US" sz="1900" dirty="0"/>
          </a:p>
        </p:txBody>
      </p:sp>
      <p:sp>
        <p:nvSpPr>
          <p:cNvPr id="5" name="Text 2"/>
          <p:cNvSpPr txBox="1"/>
          <p:nvPr/>
        </p:nvSpPr>
        <p:spPr>
          <a:xfrm>
            <a:off x="7863840" y="1874520"/>
            <a:ext cx="3749040" cy="914400"/>
          </a:xfrm>
          <a:prstGeom prst="rect">
            <a:avLst/>
          </a:prstGeom>
          <a:noFill/>
          <a:ln/>
        </p:spPr>
        <p:txBody>
          <a:bodyPr wrap="square" lIns="0" tIns="0" rIns="0" bIns="0" rtlCol="0" anchor="t"/>
          <a:lstStyle/>
          <a:p>
            <a:pPr indent="0" marL="0">
              <a:buNone/>
            </a:pPr>
            <a:r>
              <a:rPr lang="en-US" sz="1500" dirty="0">
                <a:solidFill>
                  <a:schemeClr val="tx1"/>
                </a:solidFill>
              </a:rPr>
              <a:t>Each lab registers itself with a tab registry; a hash router shows it.</a:t>
            </a:r>
            <a:endParaRPr lang="en-US" sz="1500" dirty="0"/>
          </a:p>
        </p:txBody>
      </p:sp>
      <p:sp>
        <p:nvSpPr>
          <p:cNvPr id="6" name="Text 3"/>
          <p:cNvSpPr txBox="1"/>
          <p:nvPr/>
        </p:nvSpPr>
        <p:spPr>
          <a:xfrm>
            <a:off x="7863840" y="2971800"/>
            <a:ext cx="374904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Pure logic functions</a:t>
            </a:r>
            <a:endParaRPr lang="en-US" sz="1900" dirty="0"/>
          </a:p>
        </p:txBody>
      </p:sp>
      <p:sp>
        <p:nvSpPr>
          <p:cNvPr id="7" name="Text 4"/>
          <p:cNvSpPr txBox="1"/>
          <p:nvPr/>
        </p:nvSpPr>
        <p:spPr>
          <a:xfrm>
            <a:off x="7863840" y="3383280"/>
            <a:ext cx="3749040" cy="914400"/>
          </a:xfrm>
          <a:prstGeom prst="rect">
            <a:avLst/>
          </a:prstGeom>
          <a:noFill/>
          <a:ln/>
        </p:spPr>
        <p:txBody>
          <a:bodyPr wrap="square" lIns="0" tIns="0" rIns="0" bIns="0" rtlCol="0" anchor="t"/>
          <a:lstStyle/>
          <a:p>
            <a:pPr indent="0" marL="0">
              <a:buNone/>
            </a:pPr>
            <a:r>
              <a:rPr lang="en-US" sz="1500" dirty="0">
                <a:solidFill>
                  <a:schemeClr val="tx1"/>
                </a:solidFill>
              </a:rPr>
              <a:t>A guard exits before any DOM code when run in Node, so tests and experiments load the same files.</a:t>
            </a:r>
            <a:endParaRPr lang="en-US" sz="1500" dirty="0"/>
          </a:p>
        </p:txBody>
      </p:sp>
      <p:sp>
        <p:nvSpPr>
          <p:cNvPr id="8" name="Text 5"/>
          <p:cNvSpPr txBox="1"/>
          <p:nvPr/>
        </p:nvSpPr>
        <p:spPr>
          <a:xfrm>
            <a:off x="7863840" y="4480560"/>
            <a:ext cx="374904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Seeded random numbers</a:t>
            </a:r>
            <a:endParaRPr lang="en-US" sz="1900" dirty="0"/>
          </a:p>
        </p:txBody>
      </p:sp>
      <p:sp>
        <p:nvSpPr>
          <p:cNvPr id="9" name="Text 6"/>
          <p:cNvSpPr txBox="1"/>
          <p:nvPr/>
        </p:nvSpPr>
        <p:spPr>
          <a:xfrm>
            <a:off x="7863840" y="4892040"/>
            <a:ext cx="3749040" cy="914400"/>
          </a:xfrm>
          <a:prstGeom prst="rect">
            <a:avLst/>
          </a:prstGeom>
          <a:noFill/>
          <a:ln/>
        </p:spPr>
        <p:txBody>
          <a:bodyPr wrap="square" lIns="0" tIns="0" rIns="0" bIns="0" rtlCol="0" anchor="t"/>
          <a:lstStyle/>
          <a:p>
            <a:pPr indent="0" marL="0">
              <a:buNone/>
            </a:pPr>
            <a:r>
              <a:rPr lang="en-US" sz="1500" dirty="0">
                <a:solidFill>
                  <a:schemeClr val="tx1"/>
                </a:solidFill>
              </a:rPr>
              <a:t>Same seed, same result, every time.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Implementation setup</a:t>
            </a:r>
            <a:endParaRPr lang="en-US" sz="3400" dirty="0"/>
          </a:p>
        </p:txBody>
      </p:sp>
      <p:sp>
        <p:nvSpPr>
          <p:cNvPr id="3" name="stat lines"/>
          <p:cNvSpPr/>
          <p:nvPr/>
        </p:nvSpPr>
        <p:spPr>
          <a:xfrm>
            <a:off x="548640" y="1463040"/>
            <a:ext cx="3566160" cy="1417320"/>
          </a:xfrm>
          <a:prstGeom prst="roundRect">
            <a:avLst>
              <a:gd name="adj" fmla="val 5161"/>
            </a:avLst>
          </a:prstGeom>
          <a:solidFill>
            <a:schemeClr val="bg2"/>
          </a:solidFill>
          <a:ln w="6350">
            <a:solidFill>
              <a:schemeClr val="bg2"/>
            </a:solidFill>
            <a:prstDash val="solid"/>
          </a:ln>
        </p:spPr>
      </p:sp>
      <p:sp>
        <p:nvSpPr>
          <p:cNvPr id="4" name="Text 2"/>
          <p:cNvSpPr txBox="1"/>
          <p:nvPr/>
        </p:nvSpPr>
        <p:spPr>
          <a:xfrm>
            <a:off x="777240" y="1600200"/>
            <a:ext cx="31089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≈5,900</a:t>
            </a:r>
            <a:endParaRPr lang="en-US" sz="4000" dirty="0"/>
          </a:p>
        </p:txBody>
      </p:sp>
      <p:sp>
        <p:nvSpPr>
          <p:cNvPr id="5" name="Text 3"/>
          <p:cNvSpPr txBox="1"/>
          <p:nvPr/>
        </p:nvSpPr>
        <p:spPr>
          <a:xfrm>
            <a:off x="777240" y="230428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lines of JavaScript, CSS and tests</a:t>
            </a:r>
            <a:endParaRPr lang="en-US" sz="1400" dirty="0"/>
          </a:p>
        </p:txBody>
      </p:sp>
      <p:sp>
        <p:nvSpPr>
          <p:cNvPr id="6" name="stat deps"/>
          <p:cNvSpPr/>
          <p:nvPr/>
        </p:nvSpPr>
        <p:spPr>
          <a:xfrm>
            <a:off x="4297680" y="1463040"/>
            <a:ext cx="3566160" cy="1417320"/>
          </a:xfrm>
          <a:prstGeom prst="roundRect">
            <a:avLst>
              <a:gd name="adj" fmla="val 5161"/>
            </a:avLst>
          </a:prstGeom>
          <a:solidFill>
            <a:schemeClr val="bg2"/>
          </a:solidFill>
          <a:ln w="6350">
            <a:solidFill>
              <a:schemeClr val="bg2"/>
            </a:solidFill>
            <a:prstDash val="solid"/>
          </a:ln>
        </p:spPr>
      </p:sp>
      <p:sp>
        <p:nvSpPr>
          <p:cNvPr id="7" name="Text 5"/>
          <p:cNvSpPr txBox="1"/>
          <p:nvPr/>
        </p:nvSpPr>
        <p:spPr>
          <a:xfrm>
            <a:off x="4526280" y="1600200"/>
            <a:ext cx="31089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8" name="Text 6"/>
          <p:cNvSpPr txBox="1"/>
          <p:nvPr/>
        </p:nvSpPr>
        <p:spPr>
          <a:xfrm>
            <a:off x="4526280" y="230428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dependencies, frameworks or build steps</a:t>
            </a:r>
            <a:endParaRPr lang="en-US" sz="1400" dirty="0"/>
          </a:p>
        </p:txBody>
      </p:sp>
      <p:sp>
        <p:nvSpPr>
          <p:cNvPr id="9" name="stat labs"/>
          <p:cNvSpPr/>
          <p:nvPr/>
        </p:nvSpPr>
        <p:spPr>
          <a:xfrm>
            <a:off x="8046720" y="1463040"/>
            <a:ext cx="3566160" cy="1417320"/>
          </a:xfrm>
          <a:prstGeom prst="roundRect">
            <a:avLst>
              <a:gd name="adj" fmla="val 5161"/>
            </a:avLst>
          </a:prstGeom>
          <a:solidFill>
            <a:schemeClr val="bg2"/>
          </a:solidFill>
          <a:ln w="6350">
            <a:solidFill>
              <a:schemeClr val="bg2"/>
            </a:solidFill>
            <a:prstDash val="solid"/>
          </a:ln>
        </p:spPr>
      </p:sp>
      <p:sp>
        <p:nvSpPr>
          <p:cNvPr id="10" name="Text 8"/>
          <p:cNvSpPr txBox="1"/>
          <p:nvPr/>
        </p:nvSpPr>
        <p:spPr>
          <a:xfrm>
            <a:off x="8275320" y="1600200"/>
            <a:ext cx="310896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8</a:t>
            </a:r>
            <a:endParaRPr lang="en-US" sz="4000" dirty="0"/>
          </a:p>
        </p:txBody>
      </p:sp>
      <p:sp>
        <p:nvSpPr>
          <p:cNvPr id="11" name="Text 9"/>
          <p:cNvSpPr txBox="1"/>
          <p:nvPr/>
        </p:nvSpPr>
        <p:spPr>
          <a:xfrm>
            <a:off x="8275320" y="230428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labs covering Units 1 to 6</a:t>
            </a:r>
            <a:endParaRPr lang="en-US" sz="1400" dirty="0"/>
          </a:p>
        </p:txBody>
      </p:sp>
      <p:graphicFrame>
        <p:nvGraphicFramePr>
          <p:cNvPr id="7" name="implementation table"/>
          <p:cNvGraphicFramePr>
            <a:graphicFrameLocks noGrp="1"/>
          </p:cNvGraphicFramePr>
          <p:nvPr>
            <p:extLst>
              <p:ext uri="{D42A27DB-BD31-4B8C-83A1-F6EECF244321}">
                <p14:modId xmlns:p14="http://schemas.microsoft.com/office/powerpoint/2010/main" val="1579011935"/>
              </p:ext>
            </p:extLst>
          </p:nvPr>
        </p:nvGraphicFramePr>
        <p:xfrm>
          <a:off x="548640" y="3154680"/>
          <a:ext cx="11064240" cy="914400"/>
        </p:xfrm>
        <a:graphic>
          <a:graphicData uri="http://schemas.openxmlformats.org/drawingml/2006/table">
            <a:tbl>
              <a:tblPr/>
              <a:tblGrid>
                <a:gridCol w="2743200"/>
                <a:gridCol w="8321040"/>
              </a:tblGrid>
              <a:tr h="457200">
                <a:tc>
                  <a:txBody>
                    <a:bodyPr/>
                    <a:lstStyle/>
                    <a:p>
                      <a:pPr indent="0" marL="0">
                        <a:buNone/>
                      </a:pPr>
                      <a:r>
                        <a:rPr lang="en-US" sz="1400" b="1" dirty="0">
                          <a:solidFill>
                            <a:schemeClr val="bg1"/>
                          </a:solidFill>
                        </a:rPr>
                        <a:t>Item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Detail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300" b="1" dirty="0">
                          <a:solidFill>
                            <a:schemeClr val="tx1"/>
                          </a:solidFill>
                        </a:rPr>
                        <a:t>Languages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HTML5, CSS3, JavaScript (ES2020)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1"/>
                          </a:solidFill>
                        </a:rPr>
                        <a:t>Run time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Any modern browser; Node.js v22 for tests and experiments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00" b="1" dirty="0">
                          <a:solidFill>
                            <a:schemeClr val="tx1"/>
                          </a:solidFill>
                        </a:rPr>
                        <a:t>Screenshots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Chromium 153 headless (Playwright)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1"/>
                          </a:solidFill>
                        </a:rPr>
                        <a:t>Machine for runs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Linux, 2 cores, 7 GB; all 30-seed runs finish in about 0.5 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00" b="1" dirty="0">
                          <a:solidFill>
                            <a:schemeClr val="tx1"/>
                          </a:solidFill>
                        </a:rPr>
                        <a:t>Repository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github.com/savir18/CN, files named f1_team34_*</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Eight labs, one per part of the syllabus</a:t>
            </a:r>
            <a:endParaRPr lang="en-US" sz="3400" dirty="0"/>
          </a:p>
        </p:txBody>
      </p:sp>
      <p:pic>
        <p:nvPicPr>
          <p:cNvPr id="3" name="screenshot journey" descr="Packet journey (Units 1–2) lab">    </p:cNvPr>
          <p:cNvPicPr>
            <a:picLocks noChangeAspect="1"/>
          </p:cNvPicPr>
          <p:nvPr/>
        </p:nvPicPr>
        <p:blipFill>
          <a:blip r:embed="rId1"/>
          <a:stretch>
            <a:fillRect/>
          </a:stretch>
        </p:blipFill>
        <p:spPr>
          <a:xfrm>
            <a:off x="1549908" y="1325880"/>
            <a:ext cx="3438144" cy="2148840"/>
          </a:xfrm>
          <a:prstGeom prst="rect">
            <a:avLst/>
          </a:prstGeom>
        </p:spPr>
      </p:pic>
      <p:sp>
        <p:nvSpPr>
          <p:cNvPr id="4" name="Text 1"/>
          <p:cNvSpPr txBox="1"/>
          <p:nvPr/>
        </p:nvSpPr>
        <p:spPr>
          <a:xfrm>
            <a:off x="548640" y="3502152"/>
            <a:ext cx="5440680" cy="274320"/>
          </a:xfrm>
          <a:prstGeom prst="rect">
            <a:avLst/>
          </a:prstGeom>
          <a:noFill/>
          <a:ln/>
        </p:spPr>
        <p:txBody>
          <a:bodyPr wrap="square" lIns="0" tIns="0" rIns="0" bIns="0" rtlCol="0" anchor="t"/>
          <a:lstStyle/>
          <a:p>
            <a:pPr indent="0" marL="0">
              <a:buNone/>
            </a:pPr>
            <a:r>
              <a:rPr lang="en-US" sz="1300" dirty="0">
                <a:solidFill>
                  <a:schemeClr val="accent4"/>
                </a:solidFill>
              </a:rPr>
              <a:t>Packet journey (Units 1–2)</a:t>
            </a:r>
            <a:endParaRPr lang="en-US" sz="1300" dirty="0"/>
          </a:p>
        </p:txBody>
      </p:sp>
      <p:pic>
        <p:nvPicPr>
          <p:cNvPr id="5" name="screenshot flow" descr="Flow control (Unit 3) lab">    </p:cNvPr>
          <p:cNvPicPr>
            <a:picLocks noChangeAspect="1"/>
          </p:cNvPicPr>
          <p:nvPr/>
        </p:nvPicPr>
        <p:blipFill>
          <a:blip r:embed="rId2"/>
          <a:stretch>
            <a:fillRect/>
          </a:stretch>
        </p:blipFill>
        <p:spPr>
          <a:xfrm>
            <a:off x="7173468" y="1325880"/>
            <a:ext cx="3438144" cy="2148840"/>
          </a:xfrm>
          <a:prstGeom prst="rect">
            <a:avLst/>
          </a:prstGeom>
        </p:spPr>
      </p:pic>
      <p:sp>
        <p:nvSpPr>
          <p:cNvPr id="6" name="Text 2"/>
          <p:cNvSpPr txBox="1"/>
          <p:nvPr/>
        </p:nvSpPr>
        <p:spPr>
          <a:xfrm>
            <a:off x="6172200" y="3502152"/>
            <a:ext cx="5440680" cy="274320"/>
          </a:xfrm>
          <a:prstGeom prst="rect">
            <a:avLst/>
          </a:prstGeom>
          <a:noFill/>
          <a:ln/>
        </p:spPr>
        <p:txBody>
          <a:bodyPr wrap="square" lIns="0" tIns="0" rIns="0" bIns="0" rtlCol="0" anchor="t"/>
          <a:lstStyle/>
          <a:p>
            <a:pPr indent="0" marL="0">
              <a:buNone/>
            </a:pPr>
            <a:r>
              <a:rPr lang="en-US" sz="1300" dirty="0">
                <a:solidFill>
                  <a:schemeClr val="accent4"/>
                </a:solidFill>
              </a:rPr>
              <a:t>Flow control (Unit 3)</a:t>
            </a:r>
            <a:endParaRPr lang="en-US" sz="1300" dirty="0"/>
          </a:p>
        </p:txBody>
      </p:sp>
      <p:pic>
        <p:nvPicPr>
          <p:cNvPr id="7" name="screenshot routing" descr="Routing (Unit 5) lab">    </p:cNvPr>
          <p:cNvPicPr>
            <a:picLocks noChangeAspect="1"/>
          </p:cNvPicPr>
          <p:nvPr/>
        </p:nvPicPr>
        <p:blipFill>
          <a:blip r:embed="rId3"/>
          <a:stretch>
            <a:fillRect/>
          </a:stretch>
        </p:blipFill>
        <p:spPr>
          <a:xfrm>
            <a:off x="1549908" y="3794760"/>
            <a:ext cx="3438144" cy="2148840"/>
          </a:xfrm>
          <a:prstGeom prst="rect">
            <a:avLst/>
          </a:prstGeom>
        </p:spPr>
      </p:pic>
      <p:sp>
        <p:nvSpPr>
          <p:cNvPr id="8" name="Text 3"/>
          <p:cNvSpPr txBox="1"/>
          <p:nvPr/>
        </p:nvSpPr>
        <p:spPr>
          <a:xfrm>
            <a:off x="548640" y="5971032"/>
            <a:ext cx="5440680" cy="274320"/>
          </a:xfrm>
          <a:prstGeom prst="rect">
            <a:avLst/>
          </a:prstGeom>
          <a:noFill/>
          <a:ln/>
        </p:spPr>
        <p:txBody>
          <a:bodyPr wrap="square" lIns="0" tIns="0" rIns="0" bIns="0" rtlCol="0" anchor="t"/>
          <a:lstStyle/>
          <a:p>
            <a:pPr indent="0" marL="0">
              <a:buNone/>
            </a:pPr>
            <a:r>
              <a:rPr lang="en-US" sz="1300" dirty="0">
                <a:solidFill>
                  <a:schemeClr val="accent4"/>
                </a:solidFill>
              </a:rPr>
              <a:t>Routing (Unit 5)</a:t>
            </a:r>
            <a:endParaRPr lang="en-US" sz="1300" dirty="0"/>
          </a:p>
        </p:txBody>
      </p:sp>
      <p:pic>
        <p:nvPicPr>
          <p:cNvPr id="9" name="screenshot qos" descr="Queuing and QoS (Unit 6) lab">    </p:cNvPr>
          <p:cNvPicPr>
            <a:picLocks noChangeAspect="1"/>
          </p:cNvPicPr>
          <p:nvPr/>
        </p:nvPicPr>
        <p:blipFill>
          <a:blip r:embed="rId4"/>
          <a:stretch>
            <a:fillRect/>
          </a:stretch>
        </p:blipFill>
        <p:spPr>
          <a:xfrm>
            <a:off x="7173468" y="3794760"/>
            <a:ext cx="3438144" cy="2148840"/>
          </a:xfrm>
          <a:prstGeom prst="rect">
            <a:avLst/>
          </a:prstGeom>
        </p:spPr>
      </p:pic>
      <p:sp>
        <p:nvSpPr>
          <p:cNvPr id="10" name="Text 4"/>
          <p:cNvSpPr txBox="1"/>
          <p:nvPr/>
        </p:nvSpPr>
        <p:spPr>
          <a:xfrm>
            <a:off x="6172200" y="5971032"/>
            <a:ext cx="5440680" cy="274320"/>
          </a:xfrm>
          <a:prstGeom prst="rect">
            <a:avLst/>
          </a:prstGeom>
          <a:noFill/>
          <a:ln/>
        </p:spPr>
        <p:txBody>
          <a:bodyPr wrap="square" lIns="0" tIns="0" rIns="0" bIns="0" rtlCol="0" anchor="t"/>
          <a:lstStyle/>
          <a:p>
            <a:pPr indent="0" marL="0">
              <a:buNone/>
            </a:pPr>
            <a:r>
              <a:rPr lang="en-US" sz="1300" dirty="0">
                <a:solidFill>
                  <a:schemeClr val="accent4"/>
                </a:solidFill>
              </a:rPr>
              <a:t>Queuing and QoS (Unit 6)</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Four comparisons, three scenarios each, 30 seeds</a:t>
            </a:r>
            <a:endParaRPr lang="en-US" sz="3400" dirty="0"/>
          </a:p>
        </p:txBody>
      </p:sp>
      <p:graphicFrame>
        <p:nvGraphicFramePr>
          <p:cNvPr id="9" name="scenario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645920"/>
                <a:gridCol w="3840480"/>
                <a:gridCol w="2743200"/>
                <a:gridCol w="2834640"/>
              </a:tblGrid>
              <a:tr h="777240">
                <a:tc>
                  <a:txBody>
                    <a:bodyPr/>
                    <a:lstStyle/>
                    <a:p>
                      <a:pPr indent="0" marL="0">
                        <a:buNone/>
                      </a:pPr>
                      <a:r>
                        <a:rPr lang="en-US" sz="1400" b="1" dirty="0">
                          <a:solidFill>
                            <a:schemeClr val="bg1"/>
                          </a:solidFill>
                        </a:rPr>
                        <a:t>Lab</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Baseline → proposed</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Scenarios S1, S2, S3</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Metrics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300" b="1" dirty="0">
                          <a:solidFill>
                            <a:schemeClr val="tx1"/>
                          </a:solidFill>
                        </a:rPr>
                        <a:t>Routing</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Plain distance vector → split horizon, poison reverse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Chains of 3 to 8 routers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Rounds until stable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300" b="1" dirty="0">
                          <a:solidFill>
                            <a:schemeClr val="tx1"/>
                          </a:solidFill>
                        </a:rPr>
                        <a:t>Flow control</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Go-Back-N → Selective Repeat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Frame loss 2%, 10%, 20%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Link efficiency; retransmissions per frame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300" b="1" dirty="0">
                          <a:solidFill>
                            <a:schemeClr val="tx1"/>
                          </a:solidFill>
                        </a:rPr>
                        <a:t>TCP</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Tahoe → Reno</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Loss per round 2%, 5%, 10%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Segments sent in 100 RTTs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300" b="1" dirty="0">
                          <a:solidFill>
                            <a:schemeClr val="tx1"/>
                          </a:solidFill>
                        </a:rPr>
                        <a:t>Queuing</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FIFO → priority, WFQ</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Data load 50%, 80%, 95%</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Voice p95 delay; voice loss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Text 1"/>
          <p:cNvSpPr txBox="1"/>
          <p:nvPr/>
        </p:nvSpPr>
        <p:spPr>
          <a:xfrm>
            <a:off x="548640" y="5394960"/>
            <a:ext cx="11064240" cy="548640"/>
          </a:xfrm>
          <a:prstGeom prst="rect">
            <a:avLst/>
          </a:prstGeom>
          <a:noFill/>
          <a:ln/>
        </p:spPr>
        <p:txBody>
          <a:bodyPr wrap="square" lIns="0" tIns="0" rIns="0" bIns="0" rtlCol="0" anchor="t"/>
          <a:lstStyle/>
          <a:p>
            <a:pPr indent="0" marL="0">
              <a:buNone/>
            </a:pPr>
            <a:r>
              <a:rPr lang="en-US" sz="1500" i="1" dirty="0">
                <a:solidFill>
                  <a:schemeClr val="accent4"/>
                </a:solidFill>
              </a:rPr>
              <a:t>Identical conditions for both mechanisms in every run. Mean ± sample SD of 30 seeds. Routing is deterministic, so one run per cell.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Routing: split horizon ends the 31-round loop</a:t>
            </a:r>
            <a:endParaRPr lang="en-US" sz="3400" dirty="0"/>
          </a:p>
        </p:txBody>
      </p:sp>
      <p:sp>
        <p:nvSpPr>
          <p:cNvPr id="3" name="stat plain"/>
          <p:cNvSpPr/>
          <p:nvPr/>
        </p:nvSpPr>
        <p:spPr>
          <a:xfrm>
            <a:off x="548640" y="1463040"/>
            <a:ext cx="3291840" cy="1417320"/>
          </a:xfrm>
          <a:prstGeom prst="roundRect">
            <a:avLst>
              <a:gd name="adj" fmla="val 5161"/>
            </a:avLst>
          </a:prstGeom>
          <a:solidFill>
            <a:schemeClr val="bg2"/>
          </a:solidFill>
          <a:ln w="6350">
            <a:solidFill>
              <a:schemeClr val="bg2"/>
            </a:solidFill>
            <a:prstDash val="solid"/>
          </a:ln>
        </p:spPr>
      </p:sp>
      <p:sp>
        <p:nvSpPr>
          <p:cNvPr id="4" name="Text 2"/>
          <p:cNvSpPr txBox="1"/>
          <p:nvPr/>
        </p:nvSpPr>
        <p:spPr>
          <a:xfrm>
            <a:off x="777240" y="1600200"/>
            <a:ext cx="28346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31</a:t>
            </a:r>
            <a:endParaRPr lang="en-US" sz="4000" dirty="0"/>
          </a:p>
        </p:txBody>
      </p:sp>
      <p:sp>
        <p:nvSpPr>
          <p:cNvPr id="5" name="Text 3"/>
          <p:cNvSpPr txBox="1"/>
          <p:nvPr/>
        </p:nvSpPr>
        <p:spPr>
          <a:xfrm>
            <a:off x="777240" y="2304288"/>
            <a:ext cx="2834640" cy="502920"/>
          </a:xfrm>
          <a:prstGeom prst="rect">
            <a:avLst/>
          </a:prstGeom>
          <a:noFill/>
          <a:ln/>
        </p:spPr>
        <p:txBody>
          <a:bodyPr wrap="square" lIns="0" tIns="0" rIns="0" bIns="0" rtlCol="0" anchor="t"/>
          <a:lstStyle/>
          <a:p>
            <a:pPr indent="0" marL="0">
              <a:buNone/>
            </a:pPr>
            <a:r>
              <a:rPr lang="en-US" sz="1400" dirty="0">
                <a:solidFill>
                  <a:schemeClr val="accent4"/>
                </a:solidFill>
              </a:rPr>
              <a:t>rounds with plain distance vector, in every chain</a:t>
            </a:r>
            <a:endParaRPr lang="en-US" sz="1400" dirty="0"/>
          </a:p>
        </p:txBody>
      </p:sp>
      <p:sp>
        <p:nvSpPr>
          <p:cNvPr id="6" name="stat split"/>
          <p:cNvSpPr/>
          <p:nvPr/>
        </p:nvSpPr>
        <p:spPr>
          <a:xfrm>
            <a:off x="548640" y="3063240"/>
            <a:ext cx="3291840" cy="1417320"/>
          </a:xfrm>
          <a:prstGeom prst="roundRect">
            <a:avLst>
              <a:gd name="adj" fmla="val 5161"/>
            </a:avLst>
          </a:prstGeom>
          <a:solidFill>
            <a:schemeClr val="bg2"/>
          </a:solidFill>
          <a:ln w="6350">
            <a:solidFill>
              <a:schemeClr val="bg2"/>
            </a:solidFill>
            <a:prstDash val="solid"/>
          </a:ln>
        </p:spPr>
      </p:sp>
      <p:sp>
        <p:nvSpPr>
          <p:cNvPr id="7" name="Text 5"/>
          <p:cNvSpPr txBox="1"/>
          <p:nvPr/>
        </p:nvSpPr>
        <p:spPr>
          <a:xfrm>
            <a:off x="777240" y="3200400"/>
            <a:ext cx="28346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 to 7</a:t>
            </a:r>
            <a:endParaRPr lang="en-US" sz="4000" dirty="0"/>
          </a:p>
        </p:txBody>
      </p:sp>
      <p:sp>
        <p:nvSpPr>
          <p:cNvPr id="8" name="Text 6"/>
          <p:cNvSpPr txBox="1"/>
          <p:nvPr/>
        </p:nvSpPr>
        <p:spPr>
          <a:xfrm>
            <a:off x="777240" y="3904488"/>
            <a:ext cx="2834640" cy="502920"/>
          </a:xfrm>
          <a:prstGeom prst="rect">
            <a:avLst/>
          </a:prstGeom>
          <a:noFill/>
          <a:ln/>
        </p:spPr>
        <p:txBody>
          <a:bodyPr wrap="square" lIns="0" tIns="0" rIns="0" bIns="0" rtlCol="0" anchor="t"/>
          <a:lstStyle/>
          <a:p>
            <a:pPr indent="0" marL="0">
              <a:buNone/>
            </a:pPr>
            <a:r>
              <a:rPr lang="en-US" sz="1400" dirty="0">
                <a:solidFill>
                  <a:schemeClr val="accent4"/>
                </a:solidFill>
              </a:rPr>
              <a:t>rounds with split horizon or poison reverse</a:t>
            </a:r>
            <a:endParaRPr lang="en-US" sz="1400" dirty="0"/>
          </a:p>
        </p:txBody>
      </p:sp>
      <p:sp>
        <p:nvSpPr>
          <p:cNvPr id="9" name="Text 7"/>
          <p:cNvSpPr txBox="1"/>
          <p:nvPr/>
        </p:nvSpPr>
        <p:spPr>
          <a:xfrm>
            <a:off x="548640" y="4754880"/>
            <a:ext cx="3291840" cy="1371600"/>
          </a:xfrm>
          <a:prstGeom prst="rect">
            <a:avLst/>
          </a:prstGeom>
          <a:noFill/>
          <a:ln/>
        </p:spPr>
        <p:txBody>
          <a:bodyPr wrap="square" lIns="0" tIns="0" rIns="0" bIns="0" rtlCol="0" anchor="t"/>
          <a:lstStyle/>
          <a:p>
            <a:pPr indent="0" marL="0">
              <a:buNone/>
            </a:pPr>
            <a:r>
              <a:rPr lang="en-US" sz="1400" dirty="0">
                <a:solidFill>
                  <a:schemeClr val="accent4"/>
                </a:solidFill>
              </a:rPr>
              <a:t>Last link of a chain breaks. News of the loss travels one hop per round with split horizon; without it, two routers keep feeding each other the dead route until cost reaches infinity (32).</a:t>
            </a:r>
            <a:endParaRPr lang="en-US" sz="1400" dirty="0"/>
          </a:p>
        </p:txBody>
      </p:sp>
      <p:pic>
        <p:nvPicPr>
          <p:cNvPr id="10" name="routing results chart" descr="Rounds to settle against chain length for plain DV, split horizon, poison reverse">    </p:cNvPr>
          <p:cNvPicPr>
            <a:picLocks noChangeAspect="1"/>
          </p:cNvPicPr>
          <p:nvPr/>
        </p:nvPicPr>
        <p:blipFill>
          <a:blip r:embed="rId1"/>
          <a:stretch>
            <a:fillRect/>
          </a:stretch>
        </p:blipFill>
        <p:spPr>
          <a:xfrm>
            <a:off x="4273475" y="1371600"/>
            <a:ext cx="7272169" cy="475488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Flow control: Selective Repeat wins as loss grows</a:t>
            </a:r>
            <a:endParaRPr lang="en-US" sz="3400" dirty="0"/>
          </a:p>
        </p:txBody>
      </p:sp>
      <p:sp>
        <p:nvSpPr>
          <p:cNvPr id="3" name="stat eff"/>
          <p:cNvSpPr/>
          <p:nvPr/>
        </p:nvSpPr>
        <p:spPr>
          <a:xfrm>
            <a:off x="548640" y="1371600"/>
            <a:ext cx="3566160" cy="1417320"/>
          </a:xfrm>
          <a:prstGeom prst="roundRect">
            <a:avLst>
              <a:gd name="adj" fmla="val 5161"/>
            </a:avLst>
          </a:prstGeom>
          <a:solidFill>
            <a:schemeClr val="bg2"/>
          </a:solidFill>
          <a:ln w="6350">
            <a:solidFill>
              <a:schemeClr val="bg2"/>
            </a:solidFill>
            <a:prstDash val="solid"/>
          </a:ln>
        </p:spPr>
      </p:sp>
      <p:sp>
        <p:nvSpPr>
          <p:cNvPr id="4" name="Text 2"/>
          <p:cNvSpPr txBox="1"/>
          <p:nvPr/>
        </p:nvSpPr>
        <p:spPr>
          <a:xfrm>
            <a:off x="777240" y="1508760"/>
            <a:ext cx="31089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0.405 → 0.681</a:t>
            </a:r>
            <a:endParaRPr lang="en-US" sz="4000" dirty="0"/>
          </a:p>
        </p:txBody>
      </p:sp>
      <p:sp>
        <p:nvSpPr>
          <p:cNvPr id="5" name="Text 3"/>
          <p:cNvSpPr txBox="1"/>
          <p:nvPr/>
        </p:nvSpPr>
        <p:spPr>
          <a:xfrm>
            <a:off x="77724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efficiency at 20% loss (GBN → SR)</a:t>
            </a:r>
            <a:endParaRPr lang="en-US" sz="1400" dirty="0"/>
          </a:p>
        </p:txBody>
      </p:sp>
      <p:sp>
        <p:nvSpPr>
          <p:cNvPr id="6" name="stat retx"/>
          <p:cNvSpPr/>
          <p:nvPr/>
        </p:nvSpPr>
        <p:spPr>
          <a:xfrm>
            <a:off x="4297680" y="1371600"/>
            <a:ext cx="3566160" cy="1417320"/>
          </a:xfrm>
          <a:prstGeom prst="roundRect">
            <a:avLst>
              <a:gd name="adj" fmla="val 5161"/>
            </a:avLst>
          </a:prstGeom>
          <a:solidFill>
            <a:schemeClr val="bg2"/>
          </a:solidFill>
          <a:ln w="6350">
            <a:solidFill>
              <a:schemeClr val="bg2"/>
            </a:solidFill>
            <a:prstDash val="solid"/>
          </a:ln>
        </p:spPr>
      </p:sp>
      <p:sp>
        <p:nvSpPr>
          <p:cNvPr id="7" name="Text 5"/>
          <p:cNvSpPr txBox="1"/>
          <p:nvPr/>
        </p:nvSpPr>
        <p:spPr>
          <a:xfrm>
            <a:off x="4526280" y="1508760"/>
            <a:ext cx="31089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1.46 → 0.25</a:t>
            </a:r>
            <a:endParaRPr lang="en-US" sz="4000" dirty="0"/>
          </a:p>
        </p:txBody>
      </p:sp>
      <p:sp>
        <p:nvSpPr>
          <p:cNvPr id="8" name="Text 6"/>
          <p:cNvSpPr txBox="1"/>
          <p:nvPr/>
        </p:nvSpPr>
        <p:spPr>
          <a:xfrm>
            <a:off x="452628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retransmissions per frame at 20% loss</a:t>
            </a:r>
            <a:endParaRPr lang="en-US" sz="1400" dirty="0"/>
          </a:p>
        </p:txBody>
      </p:sp>
      <p:sp>
        <p:nvSpPr>
          <p:cNvPr id="9" name="stat gain"/>
          <p:cNvSpPr/>
          <p:nvPr/>
        </p:nvSpPr>
        <p:spPr>
          <a:xfrm>
            <a:off x="8046720" y="1371600"/>
            <a:ext cx="3566160" cy="1417320"/>
          </a:xfrm>
          <a:prstGeom prst="roundRect">
            <a:avLst>
              <a:gd name="adj" fmla="val 5161"/>
            </a:avLst>
          </a:prstGeom>
          <a:solidFill>
            <a:schemeClr val="bg2"/>
          </a:solidFill>
          <a:ln w="6350">
            <a:solidFill>
              <a:schemeClr val="bg2"/>
            </a:solidFill>
            <a:prstDash val="solid"/>
          </a:ln>
        </p:spPr>
      </p:sp>
      <p:sp>
        <p:nvSpPr>
          <p:cNvPr id="10" name="Text 8"/>
          <p:cNvSpPr txBox="1"/>
          <p:nvPr/>
        </p:nvSpPr>
        <p:spPr>
          <a:xfrm>
            <a:off x="8275320" y="1508760"/>
            <a:ext cx="310896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+6% → +68%</a:t>
            </a:r>
            <a:endParaRPr lang="en-US" sz="4000" dirty="0"/>
          </a:p>
        </p:txBody>
      </p:sp>
      <p:sp>
        <p:nvSpPr>
          <p:cNvPr id="11" name="Text 9"/>
          <p:cNvSpPr txBox="1"/>
          <p:nvPr/>
        </p:nvSpPr>
        <p:spPr>
          <a:xfrm>
            <a:off x="827532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efficiency gain from S1 to S3</a:t>
            </a:r>
            <a:endParaRPr lang="en-US" sz="1400" dirty="0"/>
          </a:p>
        </p:txBody>
      </p:sp>
      <p:pic>
        <p:nvPicPr>
          <p:cNvPr id="12" name="flow results chart" descr="Efficiency and retransmissions per frame, Go-Back-N against Selective Repeat, mean and SD over 30 seeds">    </p:cNvPr>
          <p:cNvPicPr>
            <a:picLocks noChangeAspect="1"/>
          </p:cNvPicPr>
          <p:nvPr/>
        </p:nvPicPr>
        <p:blipFill>
          <a:blip r:embed="rId1"/>
          <a:stretch>
            <a:fillRect/>
          </a:stretch>
        </p:blipFill>
        <p:spPr>
          <a:xfrm>
            <a:off x="1844936" y="2971800"/>
            <a:ext cx="8471647" cy="320040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TCP: Reno halves its window, Tahoe restarts</a:t>
            </a:r>
            <a:endParaRPr lang="en-US" sz="3400" dirty="0"/>
          </a:p>
        </p:txBody>
      </p:sp>
      <p:sp>
        <p:nvSpPr>
          <p:cNvPr id="3" name="stat reno"/>
          <p:cNvSpPr/>
          <p:nvPr/>
        </p:nvSpPr>
        <p:spPr>
          <a:xfrm>
            <a:off x="548640" y="1463040"/>
            <a:ext cx="3566160" cy="1417320"/>
          </a:xfrm>
          <a:prstGeom prst="roundRect">
            <a:avLst>
              <a:gd name="adj" fmla="val 5161"/>
            </a:avLst>
          </a:prstGeom>
          <a:solidFill>
            <a:schemeClr val="bg2"/>
          </a:solidFill>
          <a:ln w="6350">
            <a:solidFill>
              <a:schemeClr val="bg2"/>
            </a:solidFill>
            <a:prstDash val="solid"/>
          </a:ln>
        </p:spPr>
      </p:sp>
      <p:sp>
        <p:nvSpPr>
          <p:cNvPr id="4" name="Text 2"/>
          <p:cNvSpPr txBox="1"/>
          <p:nvPr/>
        </p:nvSpPr>
        <p:spPr>
          <a:xfrm>
            <a:off x="777240" y="1600200"/>
            <a:ext cx="31089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 to +27%</a:t>
            </a:r>
            <a:endParaRPr lang="en-US" sz="4000" dirty="0"/>
          </a:p>
        </p:txBody>
      </p:sp>
      <p:sp>
        <p:nvSpPr>
          <p:cNvPr id="5" name="Text 3"/>
          <p:cNvSpPr txBox="1"/>
          <p:nvPr/>
        </p:nvSpPr>
        <p:spPr>
          <a:xfrm>
            <a:off x="777240" y="230428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more segments for Reno than Tahoe</a:t>
            </a:r>
            <a:endParaRPr lang="en-US" sz="1400" dirty="0"/>
          </a:p>
        </p:txBody>
      </p:sp>
      <p:sp>
        <p:nvSpPr>
          <p:cNvPr id="6" name="Text 4"/>
          <p:cNvSpPr txBox="1"/>
          <p:nvPr/>
        </p:nvSpPr>
        <p:spPr>
          <a:xfrm>
            <a:off x="548640" y="3108960"/>
            <a:ext cx="3566160" cy="1005840"/>
          </a:xfrm>
          <a:prstGeom prst="rect">
            <a:avLst/>
          </a:prstGeom>
          <a:noFill/>
          <a:ln/>
        </p:spPr>
        <p:txBody>
          <a:bodyPr wrap="square" lIns="0" tIns="0" rIns="0" bIns="0" rtlCol="0" anchor="t"/>
          <a:lstStyle/>
          <a:p>
            <a:pPr indent="0" marL="0">
              <a:buNone/>
            </a:pPr>
            <a:r>
              <a:rPr lang="en-US" sz="1500" dirty="0">
                <a:solidFill>
                  <a:schemeClr val="tx1"/>
                </a:solidFill>
              </a:rPr>
              <a:t>On three duplicate ACKs Reno halves its window; Tahoe falls back to 1. On a timeout both restart from 1.</a:t>
            </a:r>
            <a:endParaRPr lang="en-US" sz="1500" dirty="0"/>
          </a:p>
        </p:txBody>
      </p:sp>
      <p:sp>
        <p:nvSpPr>
          <p:cNvPr id="7" name="caveat card"/>
          <p:cNvSpPr/>
          <p:nvPr/>
        </p:nvSpPr>
        <p:spPr>
          <a:xfrm>
            <a:off x="548640" y="4297680"/>
            <a:ext cx="3566160" cy="1783080"/>
          </a:xfrm>
          <a:prstGeom prst="roundRect">
            <a:avLst>
              <a:gd name="adj" fmla="val 4103"/>
            </a:avLst>
          </a:prstGeom>
          <a:solidFill>
            <a:schemeClr val="bg2"/>
          </a:solidFill>
          <a:ln w="6350">
            <a:solidFill>
              <a:schemeClr val="bg2"/>
            </a:solidFill>
            <a:prstDash val="solid"/>
          </a:ln>
        </p:spPr>
      </p:sp>
      <p:sp>
        <p:nvSpPr>
          <p:cNvPr id="8" name="Text 6"/>
          <p:cNvSpPr txBox="1"/>
          <p:nvPr/>
        </p:nvSpPr>
        <p:spPr>
          <a:xfrm>
            <a:off x="777240" y="4434840"/>
            <a:ext cx="3108960" cy="320040"/>
          </a:xfrm>
          <a:prstGeom prst="rect">
            <a:avLst/>
          </a:prstGeom>
          <a:noFill/>
          <a:ln/>
        </p:spPr>
        <p:txBody>
          <a:bodyPr wrap="square" lIns="0" tIns="0" rIns="0" bIns="0" rtlCol="0" anchor="t"/>
          <a:lstStyle/>
          <a:p>
            <a:pPr indent="0" marL="0">
              <a:buNone/>
            </a:pPr>
            <a:r>
              <a:rPr lang="en-US" sz="1500" b="1" dirty="0">
                <a:solidFill>
                  <a:schemeClr val="accent2"/>
                </a:solidFill>
              </a:rPr>
              <a:t>Read with care</a:t>
            </a:r>
            <a:endParaRPr lang="en-US" sz="1500" dirty="0"/>
          </a:p>
        </p:txBody>
      </p:sp>
      <p:sp>
        <p:nvSpPr>
          <p:cNvPr id="9" name="Text 7"/>
          <p:cNvSpPr txBox="1"/>
          <p:nvPr/>
        </p:nvSpPr>
        <p:spPr>
          <a:xfrm>
            <a:off x="777240" y="4800600"/>
            <a:ext cx="3108960" cy="1234440"/>
          </a:xfrm>
          <a:prstGeom prst="rect">
            <a:avLst/>
          </a:prstGeom>
          <a:noFill/>
          <a:ln/>
        </p:spPr>
        <p:txBody>
          <a:bodyPr wrap="square" lIns="0" tIns="0" rIns="0" bIns="0" rtlCol="0" anchor="t"/>
          <a:lstStyle/>
          <a:p>
            <a:pPr indent="0" marL="0">
              <a:buNone/>
            </a:pPr>
            <a:r>
              <a:rPr lang="en-US" sz="1300" dirty="0">
                <a:solidFill>
                  <a:schemeClr val="tx1"/>
                </a:solidFill>
              </a:rPr>
              <a:t>The model draws one loss event per round, whatever the window. The size of the gain is a property of the model. The SD is wide, for example 3987 ± 1366 for Tahoe in S1.</a:t>
            </a:r>
            <a:endParaRPr lang="en-US" sz="1300" dirty="0"/>
          </a:p>
        </p:txBody>
      </p:sp>
      <p:pic>
        <p:nvPicPr>
          <p:cNvPr id="10" name="tcp results chart" descr="Segments sent in 100 round-trip times, Tahoe against Reno, mean and SD over 30 seeds">    </p:cNvPr>
          <p:cNvPicPr>
            <a:picLocks noChangeAspect="1"/>
          </p:cNvPicPr>
          <p:nvPr/>
        </p:nvPicPr>
        <p:blipFill>
          <a:blip r:embed="rId1"/>
          <a:stretch>
            <a:fillRect/>
          </a:stretch>
        </p:blipFill>
        <p:spPr>
          <a:xfrm>
            <a:off x="4480560" y="1417320"/>
            <a:ext cx="7132320" cy="466344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Queuing: weighted fair queuing protects the phone call</a:t>
            </a:r>
            <a:endParaRPr lang="en-US" sz="3400" dirty="0"/>
          </a:p>
        </p:txBody>
      </p:sp>
      <p:sp>
        <p:nvSpPr>
          <p:cNvPr id="3" name="stat delay"/>
          <p:cNvSpPr/>
          <p:nvPr/>
        </p:nvSpPr>
        <p:spPr>
          <a:xfrm>
            <a:off x="548640" y="1371600"/>
            <a:ext cx="3566160" cy="1417320"/>
          </a:xfrm>
          <a:prstGeom prst="roundRect">
            <a:avLst>
              <a:gd name="adj" fmla="val 5161"/>
            </a:avLst>
          </a:prstGeom>
          <a:solidFill>
            <a:schemeClr val="bg2"/>
          </a:solidFill>
          <a:ln w="6350">
            <a:solidFill>
              <a:schemeClr val="bg2"/>
            </a:solidFill>
            <a:prstDash val="solid"/>
          </a:ln>
        </p:spPr>
      </p:sp>
      <p:sp>
        <p:nvSpPr>
          <p:cNvPr id="4" name="Text 2"/>
          <p:cNvSpPr txBox="1"/>
          <p:nvPr/>
        </p:nvSpPr>
        <p:spPr>
          <a:xfrm>
            <a:off x="777240" y="1508760"/>
            <a:ext cx="31089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374 → 16 ms</a:t>
            </a:r>
            <a:endParaRPr lang="en-US" sz="4000" dirty="0"/>
          </a:p>
        </p:txBody>
      </p:sp>
      <p:sp>
        <p:nvSpPr>
          <p:cNvPr id="5" name="Text 3"/>
          <p:cNvSpPr txBox="1"/>
          <p:nvPr/>
        </p:nvSpPr>
        <p:spPr>
          <a:xfrm>
            <a:off x="77724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voice p95 delay at 95% data load (FIFO → WFQ)</a:t>
            </a:r>
            <a:endParaRPr lang="en-US" sz="1400" dirty="0"/>
          </a:p>
        </p:txBody>
      </p:sp>
      <p:sp>
        <p:nvSpPr>
          <p:cNvPr id="6" name="stat loss"/>
          <p:cNvSpPr/>
          <p:nvPr/>
        </p:nvSpPr>
        <p:spPr>
          <a:xfrm>
            <a:off x="4297680" y="1371600"/>
            <a:ext cx="3566160" cy="1417320"/>
          </a:xfrm>
          <a:prstGeom prst="roundRect">
            <a:avLst>
              <a:gd name="adj" fmla="val 5161"/>
            </a:avLst>
          </a:prstGeom>
          <a:solidFill>
            <a:schemeClr val="bg2"/>
          </a:solidFill>
          <a:ln w="6350">
            <a:solidFill>
              <a:schemeClr val="bg2"/>
            </a:solidFill>
            <a:prstDash val="solid"/>
          </a:ln>
        </p:spPr>
      </p:sp>
      <p:sp>
        <p:nvSpPr>
          <p:cNvPr id="7" name="Text 5"/>
          <p:cNvSpPr txBox="1"/>
          <p:nvPr/>
        </p:nvSpPr>
        <p:spPr>
          <a:xfrm>
            <a:off x="4526280" y="1508760"/>
            <a:ext cx="31089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8.57% → 0%</a:t>
            </a:r>
            <a:endParaRPr lang="en-US" sz="4000" dirty="0"/>
          </a:p>
        </p:txBody>
      </p:sp>
      <p:sp>
        <p:nvSpPr>
          <p:cNvPr id="8" name="Text 6"/>
          <p:cNvSpPr txBox="1"/>
          <p:nvPr/>
        </p:nvSpPr>
        <p:spPr>
          <a:xfrm>
            <a:off x="452628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voice packet loss at 95% data load</a:t>
            </a:r>
            <a:endParaRPr lang="en-US" sz="1400" dirty="0"/>
          </a:p>
        </p:txBody>
      </p:sp>
      <p:sp>
        <p:nvSpPr>
          <p:cNvPr id="9" name="stat pq"/>
          <p:cNvSpPr/>
          <p:nvPr/>
        </p:nvSpPr>
        <p:spPr>
          <a:xfrm>
            <a:off x="8046720" y="1371600"/>
            <a:ext cx="3566160" cy="1417320"/>
          </a:xfrm>
          <a:prstGeom prst="roundRect">
            <a:avLst>
              <a:gd name="adj" fmla="val 5161"/>
            </a:avLst>
          </a:prstGeom>
          <a:solidFill>
            <a:schemeClr val="bg2"/>
          </a:solidFill>
          <a:ln w="6350">
            <a:solidFill>
              <a:schemeClr val="bg2"/>
            </a:solidFill>
            <a:prstDash val="solid"/>
          </a:ln>
        </p:spPr>
      </p:sp>
      <p:sp>
        <p:nvSpPr>
          <p:cNvPr id="10" name="Text 8"/>
          <p:cNvSpPr txBox="1"/>
          <p:nvPr/>
        </p:nvSpPr>
        <p:spPr>
          <a:xfrm>
            <a:off x="8275320" y="1508760"/>
            <a:ext cx="310896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12.6 vs 16.2</a:t>
            </a:r>
            <a:endParaRPr lang="en-US" sz="4000" dirty="0"/>
          </a:p>
        </p:txBody>
      </p:sp>
      <p:sp>
        <p:nvSpPr>
          <p:cNvPr id="11" name="Text 9"/>
          <p:cNvSpPr txBox="1"/>
          <p:nvPr/>
        </p:nvSpPr>
        <p:spPr>
          <a:xfrm>
            <a:off x="8275320" y="2212848"/>
            <a:ext cx="3108960" cy="502920"/>
          </a:xfrm>
          <a:prstGeom prst="rect">
            <a:avLst/>
          </a:prstGeom>
          <a:noFill/>
          <a:ln/>
        </p:spPr>
        <p:txBody>
          <a:bodyPr wrap="square" lIns="0" tIns="0" rIns="0" bIns="0" rtlCol="0" anchor="t"/>
          <a:lstStyle/>
          <a:p>
            <a:pPr indent="0" marL="0">
              <a:buNone/>
            </a:pPr>
            <a:r>
              <a:rPr lang="en-US" sz="1400" dirty="0">
                <a:solidFill>
                  <a:schemeClr val="accent4"/>
                </a:solidFill>
              </a:rPr>
              <a:t>ms, priority vs WFQ: WFQ pays about 4 ms for fairness</a:t>
            </a:r>
            <a:endParaRPr lang="en-US" sz="1400" dirty="0"/>
          </a:p>
        </p:txBody>
      </p:sp>
      <p:pic>
        <p:nvPicPr>
          <p:cNvPr id="12" name="queuing results chart" descr="Voice p95 delay and loss under FIFO, priority queuing and WFQ">    </p:cNvPr>
          <p:cNvPicPr>
            <a:picLocks noChangeAspect="1"/>
          </p:cNvPicPr>
          <p:nvPr/>
        </p:nvPicPr>
        <p:blipFill>
          <a:blip r:embed="rId1"/>
          <a:stretch>
            <a:fillRect/>
          </a:stretch>
        </p:blipFill>
        <p:spPr>
          <a:xfrm>
            <a:off x="1844936" y="2971800"/>
            <a:ext cx="8471647" cy="320040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78 tests check the labs against known answers</a:t>
            </a:r>
            <a:endParaRPr lang="en-US" sz="3400" dirty="0"/>
          </a:p>
        </p:txBody>
      </p:sp>
      <p:sp>
        <p:nvSpPr>
          <p:cNvPr id="3" name="known answer 1"/>
          <p:cNvSpPr/>
          <p:nvPr/>
        </p:nvSpPr>
        <p:spPr>
          <a:xfrm>
            <a:off x="548640" y="1463040"/>
            <a:ext cx="2651760" cy="2286000"/>
          </a:xfrm>
          <a:prstGeom prst="roundRect">
            <a:avLst>
              <a:gd name="adj" fmla="val 3200"/>
            </a:avLst>
          </a:prstGeom>
          <a:solidFill>
            <a:schemeClr val="bg2"/>
          </a:solidFill>
          <a:ln w="6350">
            <a:solidFill>
              <a:schemeClr val="bg2"/>
            </a:solidFill>
            <a:prstDash val="solid"/>
          </a:ln>
        </p:spPr>
      </p:sp>
      <p:sp>
        <p:nvSpPr>
          <p:cNvPr id="4" name="Text 2"/>
          <p:cNvSpPr txBox="1"/>
          <p:nvPr/>
        </p:nvSpPr>
        <p:spPr>
          <a:xfrm>
            <a:off x="731520" y="1645920"/>
            <a:ext cx="2286000" cy="548640"/>
          </a:xfrm>
          <a:prstGeom prst="rect">
            <a:avLst/>
          </a:prstGeom>
          <a:noFill/>
          <a:ln/>
        </p:spPr>
        <p:txBody>
          <a:bodyPr wrap="square" lIns="0" tIns="0" rIns="0" bIns="0" rtlCol="0" anchor="t"/>
          <a:lstStyle/>
          <a:p>
            <a:pPr indent="0" marL="0">
              <a:buNone/>
            </a:pPr>
            <a:r>
              <a:rPr lang="en-US" sz="2400" b="1" dirty="0">
                <a:solidFill>
                  <a:schemeClr val="accent1"/>
                </a:solidFill>
                <a:latin typeface="Courier New" pitchFamily="34" charset="0"/>
                <a:ea typeface="Courier New" pitchFamily="34" charset="-122"/>
                <a:cs typeface="Courier New" pitchFamily="34" charset="-120"/>
              </a:rPr>
              <a:t>0xCBF43926</a:t>
            </a:r>
            <a:endParaRPr lang="en-US" sz="2400" dirty="0"/>
          </a:p>
        </p:txBody>
      </p:sp>
      <p:sp>
        <p:nvSpPr>
          <p:cNvPr id="5" name="Text 3"/>
          <p:cNvSpPr txBox="1"/>
          <p:nvPr/>
        </p:nvSpPr>
        <p:spPr>
          <a:xfrm>
            <a:off x="731520" y="2377440"/>
            <a:ext cx="2286000" cy="1280160"/>
          </a:xfrm>
          <a:prstGeom prst="rect">
            <a:avLst/>
          </a:prstGeom>
          <a:noFill/>
          <a:ln/>
        </p:spPr>
        <p:txBody>
          <a:bodyPr wrap="square" lIns="0" tIns="0" rIns="0" bIns="0" rtlCol="0" anchor="t"/>
          <a:lstStyle/>
          <a:p>
            <a:pPr indent="0" marL="0">
              <a:buNone/>
            </a:pPr>
            <a:r>
              <a:rPr lang="en-US" sz="1500" dirty="0">
                <a:solidFill>
                  <a:schemeClr val="tx1"/>
                </a:solidFill>
              </a:rPr>
              <a:t>CRC-32 of the text 123456789, the standard check value</a:t>
            </a:r>
            <a:endParaRPr lang="en-US" sz="1500" dirty="0"/>
          </a:p>
        </p:txBody>
      </p:sp>
      <p:sp>
        <p:nvSpPr>
          <p:cNvPr id="6" name="known answer 2"/>
          <p:cNvSpPr/>
          <p:nvPr/>
        </p:nvSpPr>
        <p:spPr>
          <a:xfrm>
            <a:off x="3364992" y="1463040"/>
            <a:ext cx="2651760" cy="2286000"/>
          </a:xfrm>
          <a:prstGeom prst="roundRect">
            <a:avLst>
              <a:gd name="adj" fmla="val 3200"/>
            </a:avLst>
          </a:prstGeom>
          <a:solidFill>
            <a:schemeClr val="bg2"/>
          </a:solidFill>
          <a:ln w="6350">
            <a:solidFill>
              <a:schemeClr val="bg2"/>
            </a:solidFill>
            <a:prstDash val="solid"/>
          </a:ln>
        </p:spPr>
      </p:sp>
      <p:sp>
        <p:nvSpPr>
          <p:cNvPr id="7" name="Text 5"/>
          <p:cNvSpPr txBox="1"/>
          <p:nvPr/>
        </p:nvSpPr>
        <p:spPr>
          <a:xfrm>
            <a:off x="3547872" y="1645920"/>
            <a:ext cx="2286000" cy="548640"/>
          </a:xfrm>
          <a:prstGeom prst="rect">
            <a:avLst/>
          </a:prstGeom>
          <a:noFill/>
          <a:ln/>
        </p:spPr>
        <p:txBody>
          <a:bodyPr wrap="square" lIns="0" tIns="0" rIns="0" bIns="0" rtlCol="0" anchor="t"/>
          <a:lstStyle/>
          <a:p>
            <a:pPr indent="0" marL="0">
              <a:buNone/>
            </a:pPr>
            <a:r>
              <a:rPr lang="en-US" sz="2400" b="1" dirty="0">
                <a:solidFill>
                  <a:schemeClr val="accent1"/>
                </a:solidFill>
                <a:latin typeface="Courier New" pitchFamily="34" charset="0"/>
                <a:ea typeface="Courier New" pitchFamily="34" charset="-122"/>
                <a:cs typeface="Courier New" pitchFamily="34" charset="-120"/>
              </a:rPr>
              <a:t>0xB861</a:t>
            </a:r>
            <a:endParaRPr lang="en-US" sz="2400" dirty="0"/>
          </a:p>
        </p:txBody>
      </p:sp>
      <p:sp>
        <p:nvSpPr>
          <p:cNvPr id="8" name="Text 6"/>
          <p:cNvSpPr txBox="1"/>
          <p:nvPr/>
        </p:nvSpPr>
        <p:spPr>
          <a:xfrm>
            <a:off x="3547872" y="2377440"/>
            <a:ext cx="2286000" cy="1280160"/>
          </a:xfrm>
          <a:prstGeom prst="rect">
            <a:avLst/>
          </a:prstGeom>
          <a:noFill/>
          <a:ln/>
        </p:spPr>
        <p:txBody>
          <a:bodyPr wrap="square" lIns="0" tIns="0" rIns="0" bIns="0" rtlCol="0" anchor="t"/>
          <a:lstStyle/>
          <a:p>
            <a:pPr indent="0" marL="0">
              <a:buNone/>
            </a:pPr>
            <a:r>
              <a:rPr lang="en-US" sz="1500" dirty="0">
                <a:solidFill>
                  <a:schemeClr val="tx1"/>
                </a:solidFill>
              </a:rPr>
              <a:t>IPv4 header checksum from the textbook example</a:t>
            </a:r>
            <a:endParaRPr lang="en-US" sz="1500" dirty="0"/>
          </a:p>
        </p:txBody>
      </p:sp>
      <p:sp>
        <p:nvSpPr>
          <p:cNvPr id="9" name="known answer 3"/>
          <p:cNvSpPr/>
          <p:nvPr/>
        </p:nvSpPr>
        <p:spPr>
          <a:xfrm>
            <a:off x="6181344" y="1463040"/>
            <a:ext cx="2651760" cy="2286000"/>
          </a:xfrm>
          <a:prstGeom prst="roundRect">
            <a:avLst>
              <a:gd name="adj" fmla="val 3200"/>
            </a:avLst>
          </a:prstGeom>
          <a:solidFill>
            <a:schemeClr val="bg2"/>
          </a:solidFill>
          <a:ln w="6350">
            <a:solidFill>
              <a:schemeClr val="bg2"/>
            </a:solidFill>
            <a:prstDash val="solid"/>
          </a:ln>
        </p:spPr>
      </p:sp>
      <p:sp>
        <p:nvSpPr>
          <p:cNvPr id="10" name="Text 8"/>
          <p:cNvSpPr txBox="1"/>
          <p:nvPr/>
        </p:nvSpPr>
        <p:spPr>
          <a:xfrm>
            <a:off x="6364224" y="1645920"/>
            <a:ext cx="2286000" cy="548640"/>
          </a:xfrm>
          <a:prstGeom prst="rect">
            <a:avLst/>
          </a:prstGeom>
          <a:noFill/>
          <a:ln/>
        </p:spPr>
        <p:txBody>
          <a:bodyPr wrap="square" lIns="0" tIns="0" rIns="0" bIns="0" rtlCol="0" anchor="t"/>
          <a:lstStyle/>
          <a:p>
            <a:pPr indent="0" marL="0">
              <a:buNone/>
            </a:pPr>
            <a:r>
              <a:rPr lang="en-US" sz="2400" b="1" dirty="0">
                <a:solidFill>
                  <a:schemeClr val="accent1"/>
                </a:solidFill>
                <a:latin typeface="Courier New" pitchFamily="34" charset="0"/>
                <a:ea typeface="Courier New" pitchFamily="34" charset="-122"/>
                <a:cs typeface="Courier New" pitchFamily="34" charset="-120"/>
              </a:rPr>
              <a:t>0.184</a:t>
            </a:r>
            <a:endParaRPr lang="en-US" sz="2400" dirty="0"/>
          </a:p>
        </p:txBody>
      </p:sp>
      <p:sp>
        <p:nvSpPr>
          <p:cNvPr id="11" name="Text 9"/>
          <p:cNvSpPr txBox="1"/>
          <p:nvPr/>
        </p:nvSpPr>
        <p:spPr>
          <a:xfrm>
            <a:off x="6364224" y="2377440"/>
            <a:ext cx="2286000" cy="1280160"/>
          </a:xfrm>
          <a:prstGeom prst="rect">
            <a:avLst/>
          </a:prstGeom>
          <a:noFill/>
          <a:ln/>
        </p:spPr>
        <p:txBody>
          <a:bodyPr wrap="square" lIns="0" tIns="0" rIns="0" bIns="0" rtlCol="0" anchor="t"/>
          <a:lstStyle/>
          <a:p>
            <a:pPr indent="0" marL="0">
              <a:buNone/>
            </a:pPr>
            <a:r>
              <a:rPr lang="en-US" sz="1500" dirty="0">
                <a:solidFill>
                  <a:schemeClr val="tx1"/>
                </a:solidFill>
              </a:rPr>
              <a:t>Peak throughput of pure ALOHA, at G = 0.5</a:t>
            </a:r>
            <a:endParaRPr lang="en-US" sz="1500" dirty="0"/>
          </a:p>
        </p:txBody>
      </p:sp>
      <p:sp>
        <p:nvSpPr>
          <p:cNvPr id="12" name="known answer 4"/>
          <p:cNvSpPr/>
          <p:nvPr/>
        </p:nvSpPr>
        <p:spPr>
          <a:xfrm>
            <a:off x="8997696" y="1463040"/>
            <a:ext cx="2651760" cy="2286000"/>
          </a:xfrm>
          <a:prstGeom prst="roundRect">
            <a:avLst>
              <a:gd name="adj" fmla="val 3200"/>
            </a:avLst>
          </a:prstGeom>
          <a:solidFill>
            <a:schemeClr val="bg2"/>
          </a:solidFill>
          <a:ln w="6350">
            <a:solidFill>
              <a:schemeClr val="bg2"/>
            </a:solidFill>
            <a:prstDash val="solid"/>
          </a:ln>
        </p:spPr>
      </p:sp>
      <p:sp>
        <p:nvSpPr>
          <p:cNvPr id="13" name="Text 11"/>
          <p:cNvSpPr txBox="1"/>
          <p:nvPr/>
        </p:nvSpPr>
        <p:spPr>
          <a:xfrm>
            <a:off x="9180576" y="1645920"/>
            <a:ext cx="2286000" cy="548640"/>
          </a:xfrm>
          <a:prstGeom prst="rect">
            <a:avLst/>
          </a:prstGeom>
          <a:noFill/>
          <a:ln/>
        </p:spPr>
        <p:txBody>
          <a:bodyPr wrap="square" lIns="0" tIns="0" rIns="0" bIns="0" rtlCol="0" anchor="t"/>
          <a:lstStyle/>
          <a:p>
            <a:pPr indent="0" marL="0">
              <a:buNone/>
            </a:pPr>
            <a:r>
              <a:rPr lang="en-US" sz="2400" b="1" dirty="0">
                <a:solidFill>
                  <a:schemeClr val="accent1"/>
                </a:solidFill>
                <a:latin typeface="Courier New" pitchFamily="34" charset="0"/>
                <a:ea typeface="Courier New" pitchFamily="34" charset="-122"/>
                <a:cs typeface="Courier New" pitchFamily="34" charset="-120"/>
              </a:rPr>
              <a:t>Same costs</a:t>
            </a:r>
            <a:endParaRPr lang="en-US" sz="2400" dirty="0"/>
          </a:p>
        </p:txBody>
      </p:sp>
      <p:sp>
        <p:nvSpPr>
          <p:cNvPr id="14" name="Text 12"/>
          <p:cNvSpPr txBox="1"/>
          <p:nvPr/>
        </p:nvSpPr>
        <p:spPr>
          <a:xfrm>
            <a:off x="9180576" y="2377440"/>
            <a:ext cx="2286000" cy="1280160"/>
          </a:xfrm>
          <a:prstGeom prst="rect">
            <a:avLst/>
          </a:prstGeom>
          <a:noFill/>
          <a:ln/>
        </p:spPr>
        <p:txBody>
          <a:bodyPr wrap="square" lIns="0" tIns="0" rIns="0" bIns="0" rtlCol="0" anchor="t"/>
          <a:lstStyle/>
          <a:p>
            <a:pPr indent="0" marL="0">
              <a:buNone/>
            </a:pPr>
            <a:r>
              <a:rPr lang="en-US" sz="1500" dirty="0">
                <a:solidFill>
                  <a:schemeClr val="tx1"/>
                </a:solidFill>
              </a:rPr>
              <a:t>Dijkstra and distance vector agree for every router pair</a:t>
            </a:r>
            <a:endParaRPr lang="en-US" sz="1500" dirty="0"/>
          </a:p>
        </p:txBody>
      </p:sp>
      <p:sp>
        <p:nvSpPr>
          <p:cNvPr id="15" name="Text 13"/>
          <p:cNvSpPr txBox="1"/>
          <p:nvPr/>
        </p:nvSpPr>
        <p:spPr>
          <a:xfrm>
            <a:off x="548640" y="4114800"/>
            <a:ext cx="6766560" cy="1097280"/>
          </a:xfrm>
          <a:prstGeom prst="rect">
            <a:avLst/>
          </a:prstGeom>
          <a:noFill/>
          <a:ln/>
        </p:spPr>
        <p:txBody>
          <a:bodyPr wrap="square" lIns="0" tIns="0" rIns="0" bIns="0" rtlCol="0" anchor="t"/>
          <a:lstStyle/>
          <a:p>
            <a:pPr indent="0" marL="0">
              <a:buNone/>
            </a:pPr>
            <a:r>
              <a:rPr lang="en-US" sz="1700" dirty="0">
                <a:solidFill>
                  <a:schemeClr val="tx1"/>
                </a:solidFill>
              </a:rPr>
              <a:t>The other tests check invariants: every frame delivered exactly once and in order under random loss, WFQ never starves bulk traffic, and the same seed repeats exactly.</a:t>
            </a:r>
            <a:endParaRPr lang="en-US" sz="1700" dirty="0"/>
          </a:p>
        </p:txBody>
      </p:sp>
      <p:sp>
        <p:nvSpPr>
          <p:cNvPr id="16" name="test run card"/>
          <p:cNvSpPr/>
          <p:nvPr/>
        </p:nvSpPr>
        <p:spPr>
          <a:xfrm>
            <a:off x="7680960" y="4023360"/>
            <a:ext cx="3931920" cy="1463040"/>
          </a:xfrm>
          <a:prstGeom prst="roundRect">
            <a:avLst>
              <a:gd name="adj" fmla="val 5000"/>
            </a:avLst>
          </a:prstGeom>
          <a:solidFill>
            <a:schemeClr val="tx2"/>
          </a:solidFill>
          <a:ln w="6350">
            <a:solidFill>
              <a:schemeClr val="bg2"/>
            </a:solidFill>
            <a:prstDash val="solid"/>
          </a:ln>
        </p:spPr>
      </p:sp>
      <p:sp>
        <p:nvSpPr>
          <p:cNvPr id="17" name="Text 15"/>
          <p:cNvSpPr txBox="1"/>
          <p:nvPr/>
        </p:nvSpPr>
        <p:spPr>
          <a:xfrm>
            <a:off x="7909560" y="4251960"/>
            <a:ext cx="3566160" cy="1097280"/>
          </a:xfrm>
          <a:prstGeom prst="rect">
            <a:avLst/>
          </a:prstGeom>
          <a:noFill/>
          <a:ln/>
        </p:spPr>
        <p:txBody>
          <a:bodyPr wrap="square" lIns="0" tIns="0" rIns="0" bIns="0" rtlCol="0" anchor="t"/>
          <a:lstStyle/>
          <a:p>
            <a:pPr indent="0" marL="0">
              <a:spcAft>
                <a:spcPts val="800"/>
              </a:spcAft>
              <a:buNone/>
            </a:pPr>
            <a:r>
              <a:rPr lang="en-US" sz="1300" dirty="0">
                <a:solidFill>
                  <a:schemeClr val="accent5"/>
                </a:solidFill>
                <a:latin typeface="Courier New" pitchFamily="34" charset="0"/>
                <a:ea typeface="Courier New" pitchFamily="34" charset="-122"/>
                <a:cs typeface="Courier New" pitchFamily="34" charset="-120"/>
              </a:rPr>
              <a:t>$ node tests/f1_team34_tests.js</a:t>
            </a:r>
            <a:endParaRPr lang="en-US" sz="1300" dirty="0"/>
          </a:p>
          <a:p>
            <a:pPr indent="0" marL="0">
              <a:spcAft>
                <a:spcPts val="800"/>
              </a:spcAft>
              <a:buNone/>
            </a:pPr>
            <a:r>
              <a:rPr lang="en-US" sz="2200" b="1" dirty="0">
                <a:solidFill>
                  <a:schemeClr val="bg1"/>
                </a:solidFill>
                <a:latin typeface="Courier New" pitchFamily="34" charset="0"/>
                <a:ea typeface="Courier New" pitchFamily="34" charset="-122"/>
                <a:cs typeface="Courier New" pitchFamily="34" charset="-120"/>
              </a:rPr>
              <a:t>78 passed, 0 failed</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Analysis and limitations</a:t>
            </a:r>
            <a:endParaRPr lang="en-US" sz="3400" dirty="0"/>
          </a:p>
        </p:txBody>
      </p:sp>
      <p:sp>
        <p:nvSpPr>
          <p:cNvPr id="3" name="analysis card"/>
          <p:cNvSpPr/>
          <p:nvPr/>
        </p:nvSpPr>
        <p:spPr>
          <a:xfrm>
            <a:off x="548640" y="1371600"/>
            <a:ext cx="5440680" cy="4206240"/>
          </a:xfrm>
          <a:prstGeom prst="roundRect">
            <a:avLst>
              <a:gd name="adj" fmla="val 1739"/>
            </a:avLst>
          </a:prstGeom>
          <a:solidFill>
            <a:schemeClr val="bg2"/>
          </a:solidFill>
          <a:ln w="6350">
            <a:solidFill>
              <a:schemeClr val="bg2"/>
            </a:solidFill>
            <a:prstDash val="solid"/>
          </a:ln>
        </p:spPr>
      </p:sp>
      <p:sp>
        <p:nvSpPr>
          <p:cNvPr id="4" name="limits card"/>
          <p:cNvSpPr/>
          <p:nvPr/>
        </p:nvSpPr>
        <p:spPr>
          <a:xfrm>
            <a:off x="6172200" y="1371600"/>
            <a:ext cx="5440680" cy="4206240"/>
          </a:xfrm>
          <a:prstGeom prst="roundRect">
            <a:avLst>
              <a:gd name="adj" fmla="val 1739"/>
            </a:avLst>
          </a:prstGeom>
          <a:solidFill>
            <a:schemeClr val="bg2"/>
          </a:solidFill>
          <a:ln w="6350">
            <a:solidFill>
              <a:schemeClr val="bg2"/>
            </a:solidFill>
            <a:prstDash val="solid"/>
          </a:ln>
        </p:spPr>
      </p:sp>
      <p:sp>
        <p:nvSpPr>
          <p:cNvPr id="5" name="Text 3"/>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What the results show</a:t>
            </a:r>
            <a:endParaRPr lang="en-US" sz="2000" dirty="0"/>
          </a:p>
        </p:txBody>
      </p:sp>
      <p:sp>
        <p:nvSpPr>
          <p:cNvPr id="6" name="Text 4"/>
          <p:cNvSpPr txBox="1"/>
          <p:nvPr/>
        </p:nvSpPr>
        <p:spPr>
          <a:xfrm>
            <a:off x="822960" y="2057400"/>
            <a:ext cx="4937760" cy="33832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Every improvement helps, and helps more under stress.</a:t>
            </a:r>
            <a:endParaRPr lang="en-US" sz="1800" dirty="0"/>
          </a:p>
          <a:p>
            <a:pPr marL="342900" indent="-342900">
              <a:spcAft>
                <a:spcPts val="1200"/>
              </a:spcAft>
              <a:buSzPct val="100000"/>
              <a:buChar char="•"/>
            </a:pPr>
            <a:r>
              <a:rPr lang="en-US" sz="1800" dirty="0">
                <a:solidFill>
                  <a:schemeClr val="tx1"/>
                </a:solidFill>
              </a:rPr>
              <a:t>Selective Repeat and WFQ differences are many SDs wide in S2 and S3.</a:t>
            </a:r>
            <a:endParaRPr lang="en-US" sz="1800" dirty="0"/>
          </a:p>
          <a:p>
            <a:pPr marL="342900" indent="-342900">
              <a:spcAft>
                <a:spcPts val="1200"/>
              </a:spcAft>
              <a:buSzPct val="100000"/>
              <a:buChar char="•"/>
            </a:pPr>
            <a:r>
              <a:rPr lang="en-US" sz="1800" dirty="0">
                <a:solidFill>
                  <a:schemeClr val="tx1"/>
                </a:solidFill>
              </a:rPr>
              <a:t>Protecting voice did not raise loss for bulk traffic.</a:t>
            </a:r>
            <a:endParaRPr lang="en-US" sz="1800" dirty="0"/>
          </a:p>
          <a:p>
            <a:pPr marL="342900" indent="-342900">
              <a:spcAft>
                <a:spcPts val="1200"/>
              </a:spcAft>
              <a:buSzPct val="100000"/>
              <a:buChar char="•"/>
            </a:pPr>
            <a:r>
              <a:rPr lang="en-US" sz="1800" dirty="0">
                <a:solidFill>
                  <a:schemeClr val="tx1"/>
                </a:solidFill>
              </a:rPr>
              <a:t>Priority is slightly faster for voice; WFQ avoids starvation.</a:t>
            </a:r>
            <a:endParaRPr lang="en-US" sz="1800" dirty="0"/>
          </a:p>
        </p:txBody>
      </p:sp>
      <p:sp>
        <p:nvSpPr>
          <p:cNvPr id="7" name="Text 5"/>
          <p:cNvSpPr txBox="1"/>
          <p:nvPr/>
        </p:nvSpPr>
        <p:spPr>
          <a:xfrm>
            <a:off x="6446520" y="1554480"/>
            <a:ext cx="49377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What it does not show</a:t>
            </a:r>
            <a:endParaRPr lang="en-US" sz="2000" dirty="0"/>
          </a:p>
        </p:txBody>
      </p:sp>
      <p:sp>
        <p:nvSpPr>
          <p:cNvPr id="8" name="Text 6"/>
          <p:cNvSpPr txBox="1"/>
          <p:nvPr/>
        </p:nvSpPr>
        <p:spPr>
          <a:xfrm>
            <a:off x="6446520" y="2057400"/>
            <a:ext cx="4937760" cy="33832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Simplified models: per-RTT TCP, fluid shared link, one queue port.</a:t>
            </a:r>
            <a:endParaRPr lang="en-US" sz="1800" dirty="0"/>
          </a:p>
          <a:p>
            <a:pPr marL="342900" indent="-342900">
              <a:spcAft>
                <a:spcPts val="1200"/>
              </a:spcAft>
              <a:buSzPct val="100000"/>
              <a:buChar char="•"/>
            </a:pPr>
            <a:r>
              <a:rPr lang="en-US" sz="1800" dirty="0">
                <a:solidFill>
                  <a:schemeClr val="tx1"/>
                </a:solidFill>
              </a:rPr>
              <a:t>Split horizon is tested on chains only, not meshes.</a:t>
            </a:r>
            <a:endParaRPr lang="en-US" sz="1800" dirty="0"/>
          </a:p>
          <a:p>
            <a:pPr marL="342900" indent="-342900">
              <a:spcAft>
                <a:spcPts val="1200"/>
              </a:spcAft>
              <a:buSzPct val="100000"/>
              <a:buChar char="•"/>
            </a:pPr>
            <a:r>
              <a:rPr lang="en-US" sz="1800" dirty="0">
                <a:solidFill>
                  <a:schemeClr val="tx1"/>
                </a:solidFill>
              </a:rPr>
              <a:t>No significance tests and no user study.</a:t>
            </a:r>
            <a:endParaRPr lang="en-US" sz="1800" dirty="0"/>
          </a:p>
          <a:p>
            <a:pPr marL="342900" indent="-342900">
              <a:spcAft>
                <a:spcPts val="1200"/>
              </a:spcAft>
              <a:buSzPct val="100000"/>
              <a:buChar char="•"/>
            </a:pPr>
            <a:r>
              <a:rPr lang="en-US" sz="1800" dirty="0">
                <a:solidFill>
                  <a:schemeClr val="tx1"/>
                </a:solidFill>
              </a:rPr>
              <a:t>Unit 7 (DNS, HTTP, FTP) and 802.11 CSMA/CA have no lab.</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Conclusion and future work</a:t>
            </a:r>
            <a:endParaRPr lang="en-US" sz="3400" dirty="0"/>
          </a:p>
        </p:txBody>
      </p:sp>
      <p:sp>
        <p:nvSpPr>
          <p:cNvPr id="3" name="Text 1"/>
          <p:cNvSpPr txBox="1"/>
          <p:nvPr/>
        </p:nvSpPr>
        <p:spPr>
          <a:xfrm>
            <a:off x="548640" y="1371600"/>
            <a:ext cx="11064240" cy="10972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Eight working labs in one zero-install page, four baseline-versus-improvement comparisons measured over 30 seeds, and 78 passing tests. The numbers can be reproduced with one command.</a:t>
            </a:r>
            <a:endParaRPr lang="en-US" sz="2000" dirty="0"/>
          </a:p>
        </p:txBody>
      </p:sp>
      <p:sp>
        <p:nvSpPr>
          <p:cNvPr id="4" name="future card 1"/>
          <p:cNvSpPr/>
          <p:nvPr/>
        </p:nvSpPr>
        <p:spPr>
          <a:xfrm>
            <a:off x="548640" y="2926080"/>
            <a:ext cx="5440680" cy="1417320"/>
          </a:xfrm>
          <a:prstGeom prst="roundRect">
            <a:avLst>
              <a:gd name="adj" fmla="val 5161"/>
            </a:avLst>
          </a:prstGeom>
          <a:solidFill>
            <a:schemeClr val="bg2"/>
          </a:solidFill>
          <a:ln w="6350">
            <a:solidFill>
              <a:schemeClr val="bg2"/>
            </a:solidFill>
            <a:prstDash val="solid"/>
          </a:ln>
        </p:spPr>
      </p:sp>
      <p:sp>
        <p:nvSpPr>
          <p:cNvPr id="5" name="Text 3"/>
          <p:cNvSpPr txBox="1"/>
          <p:nvPr/>
        </p:nvSpPr>
        <p:spPr>
          <a:xfrm>
            <a:off x="822960" y="3108960"/>
            <a:ext cx="484632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DNS lab</a:t>
            </a:r>
            <a:endParaRPr lang="en-US" sz="1900" dirty="0"/>
          </a:p>
        </p:txBody>
      </p:sp>
      <p:sp>
        <p:nvSpPr>
          <p:cNvPr id="6" name="Text 4"/>
          <p:cNvSpPr txBox="1"/>
          <p:nvPr/>
        </p:nvSpPr>
        <p:spPr>
          <a:xfrm>
            <a:off x="822960" y="3611880"/>
            <a:ext cx="4846320" cy="640080"/>
          </a:xfrm>
          <a:prstGeom prst="rect">
            <a:avLst/>
          </a:prstGeom>
          <a:noFill/>
          <a:ln/>
        </p:spPr>
        <p:txBody>
          <a:bodyPr wrap="square" lIns="0" tIns="0" rIns="0" bIns="0" rtlCol="0" anchor="t"/>
          <a:lstStyle/>
          <a:p>
            <a:pPr indent="0" marL="0">
              <a:buNone/>
            </a:pPr>
            <a:r>
              <a:rPr lang="en-US" sz="1500" dirty="0">
                <a:solidFill>
                  <a:schemeClr val="tx1"/>
                </a:solidFill>
              </a:rPr>
              <a:t>Recursive and iterative lookups with caching, to cover Unit 7</a:t>
            </a:r>
            <a:endParaRPr lang="en-US" sz="1500" dirty="0"/>
          </a:p>
        </p:txBody>
      </p:sp>
      <p:sp>
        <p:nvSpPr>
          <p:cNvPr id="7" name="future card 2"/>
          <p:cNvSpPr/>
          <p:nvPr/>
        </p:nvSpPr>
        <p:spPr>
          <a:xfrm>
            <a:off x="6172200" y="2926080"/>
            <a:ext cx="5440680" cy="1417320"/>
          </a:xfrm>
          <a:prstGeom prst="roundRect">
            <a:avLst>
              <a:gd name="adj" fmla="val 5161"/>
            </a:avLst>
          </a:prstGeom>
          <a:solidFill>
            <a:schemeClr val="bg2"/>
          </a:solidFill>
          <a:ln w="6350">
            <a:solidFill>
              <a:schemeClr val="bg2"/>
            </a:solidFill>
            <a:prstDash val="solid"/>
          </a:ln>
        </p:spPr>
      </p:sp>
      <p:sp>
        <p:nvSpPr>
          <p:cNvPr id="8" name="Text 6"/>
          <p:cNvSpPr txBox="1"/>
          <p:nvPr/>
        </p:nvSpPr>
        <p:spPr>
          <a:xfrm>
            <a:off x="6446520" y="3108960"/>
            <a:ext cx="484632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TCP handshake and UDP</a:t>
            </a:r>
            <a:endParaRPr lang="en-US" sz="1900" dirty="0"/>
          </a:p>
        </p:txBody>
      </p:sp>
      <p:sp>
        <p:nvSpPr>
          <p:cNvPr id="9" name="Text 7"/>
          <p:cNvSpPr txBox="1"/>
          <p:nvPr/>
        </p:nvSpPr>
        <p:spPr>
          <a:xfrm>
            <a:off x="6446520" y="3611880"/>
            <a:ext cx="4846320" cy="640080"/>
          </a:xfrm>
          <a:prstGeom prst="rect">
            <a:avLst/>
          </a:prstGeom>
          <a:noFill/>
          <a:ln/>
        </p:spPr>
        <p:txBody>
          <a:bodyPr wrap="square" lIns="0" tIns="0" rIns="0" bIns="0" rtlCol="0" anchor="t"/>
          <a:lstStyle/>
          <a:p>
            <a:pPr indent="0" marL="0">
              <a:buNone/>
            </a:pPr>
            <a:r>
              <a:rPr lang="en-US" sz="1500" dirty="0">
                <a:solidFill>
                  <a:schemeClr val="tx1"/>
                </a:solidFill>
              </a:rPr>
              <a:t>Connection set-up and a comparison with UDP</a:t>
            </a:r>
            <a:endParaRPr lang="en-US" sz="1500" dirty="0"/>
          </a:p>
        </p:txBody>
      </p:sp>
      <p:sp>
        <p:nvSpPr>
          <p:cNvPr id="10" name="future card 3"/>
          <p:cNvSpPr/>
          <p:nvPr/>
        </p:nvSpPr>
        <p:spPr>
          <a:xfrm>
            <a:off x="548640" y="4526280"/>
            <a:ext cx="5440680" cy="1417320"/>
          </a:xfrm>
          <a:prstGeom prst="roundRect">
            <a:avLst>
              <a:gd name="adj" fmla="val 5161"/>
            </a:avLst>
          </a:prstGeom>
          <a:solidFill>
            <a:schemeClr val="bg2"/>
          </a:solidFill>
          <a:ln w="6350">
            <a:solidFill>
              <a:schemeClr val="bg2"/>
            </a:solidFill>
            <a:prstDash val="solid"/>
          </a:ln>
        </p:spPr>
      </p:sp>
      <p:sp>
        <p:nvSpPr>
          <p:cNvPr id="11" name="Text 9"/>
          <p:cNvSpPr txBox="1"/>
          <p:nvPr/>
        </p:nvSpPr>
        <p:spPr>
          <a:xfrm>
            <a:off x="822960" y="4709160"/>
            <a:ext cx="484632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CSMA/CA</a:t>
            </a:r>
            <a:endParaRPr lang="en-US" sz="1900" dirty="0"/>
          </a:p>
        </p:txBody>
      </p:sp>
      <p:sp>
        <p:nvSpPr>
          <p:cNvPr id="12" name="Text 10"/>
          <p:cNvSpPr txBox="1"/>
          <p:nvPr/>
        </p:nvSpPr>
        <p:spPr>
          <a:xfrm>
            <a:off x="822960" y="5212080"/>
            <a:ext cx="4846320" cy="640080"/>
          </a:xfrm>
          <a:prstGeom prst="rect">
            <a:avLst/>
          </a:prstGeom>
          <a:noFill/>
          <a:ln/>
        </p:spPr>
        <p:txBody>
          <a:bodyPr wrap="square" lIns="0" tIns="0" rIns="0" bIns="0" rtlCol="0" anchor="t"/>
          <a:lstStyle/>
          <a:p>
            <a:pPr indent="0" marL="0">
              <a:buNone/>
            </a:pPr>
            <a:r>
              <a:rPr lang="en-US" sz="1500" dirty="0">
                <a:solidFill>
                  <a:schemeClr val="tx1"/>
                </a:solidFill>
              </a:rPr>
              <a:t>IEEE 802.11 medium access</a:t>
            </a:r>
            <a:endParaRPr lang="en-US" sz="1500" dirty="0"/>
          </a:p>
        </p:txBody>
      </p:sp>
      <p:sp>
        <p:nvSpPr>
          <p:cNvPr id="13" name="future card 4"/>
          <p:cNvSpPr/>
          <p:nvPr/>
        </p:nvSpPr>
        <p:spPr>
          <a:xfrm>
            <a:off x="6172200" y="4526280"/>
            <a:ext cx="5440680" cy="1417320"/>
          </a:xfrm>
          <a:prstGeom prst="roundRect">
            <a:avLst>
              <a:gd name="adj" fmla="val 5161"/>
            </a:avLst>
          </a:prstGeom>
          <a:solidFill>
            <a:schemeClr val="bg2"/>
          </a:solidFill>
          <a:ln w="6350">
            <a:solidFill>
              <a:schemeClr val="bg2"/>
            </a:solidFill>
            <a:prstDash val="solid"/>
          </a:ln>
        </p:spPr>
      </p:sp>
      <p:sp>
        <p:nvSpPr>
          <p:cNvPr id="14" name="Text 12"/>
          <p:cNvSpPr txBox="1"/>
          <p:nvPr/>
        </p:nvSpPr>
        <p:spPr>
          <a:xfrm>
            <a:off x="6446520" y="4709160"/>
            <a:ext cx="4846320" cy="36576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Meshes and a classroom trial</a:t>
            </a:r>
            <a:endParaRPr lang="en-US" sz="1900" dirty="0"/>
          </a:p>
        </p:txBody>
      </p:sp>
      <p:sp>
        <p:nvSpPr>
          <p:cNvPr id="15" name="Text 13"/>
          <p:cNvSpPr txBox="1"/>
          <p:nvPr/>
        </p:nvSpPr>
        <p:spPr>
          <a:xfrm>
            <a:off x="6446520" y="5212080"/>
            <a:ext cx="4846320" cy="640080"/>
          </a:xfrm>
          <a:prstGeom prst="rect">
            <a:avLst/>
          </a:prstGeom>
          <a:noFill/>
          <a:ln/>
        </p:spPr>
        <p:txBody>
          <a:bodyPr wrap="square" lIns="0" tIns="0" rIns="0" bIns="0" rtlCol="0" anchor="t"/>
          <a:lstStyle/>
          <a:p>
            <a:pPr indent="0" marL="0">
              <a:buNone/>
            </a:pPr>
            <a:r>
              <a:rPr lang="en-US" sz="1500" dirty="0">
                <a:solidFill>
                  <a:schemeClr val="tx1"/>
                </a:solidFill>
              </a:rPr>
              <a:t>Loops that split horizon cannot stop; measure learning with students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2011680"/>
          </a:xfrm>
          <a:prstGeom prst="rect">
            <a:avLst/>
          </a:prstGeom>
          <a:noFill/>
          <a:ln/>
        </p:spPr>
        <p:txBody>
          <a:bodyPr wrap="square" lIns="0" tIns="0" rIns="0" bIns="0" rtlCol="0" anchor="t"/>
          <a:lstStyle/>
          <a:p>
            <a:pPr algn="l" indent="0" marL="0">
              <a:buNone/>
            </a:pPr>
            <a:r>
              <a:rPr lang="en-US" sz="4400" b="1" dirty="0">
                <a:solidFill>
                  <a:schemeClr val="bg1"/>
                </a:solidFill>
              </a:rPr>
              <a:t>Thank you. Try it yourself</a:t>
            </a:r>
            <a:endParaRPr lang="en-US" sz="4400" dirty="0"/>
          </a:p>
        </p:txBody>
      </p:sp>
      <p:sp>
        <p:nvSpPr>
          <p:cNvPr id="3" name="Text 1"/>
          <p:cNvSpPr txBox="1"/>
          <p:nvPr/>
        </p:nvSpPr>
        <p:spPr>
          <a:xfrm>
            <a:off x="731520" y="2194560"/>
            <a:ext cx="6766560" cy="1737360"/>
          </a:xfrm>
          <a:prstGeom prst="rect">
            <a:avLst/>
          </a:prstGeom>
          <a:noFill/>
          <a:ln/>
        </p:spPr>
        <p:txBody>
          <a:bodyPr wrap="square" lIns="0" tIns="0" rIns="0" bIns="0" rtlCol="0" anchor="t"/>
          <a:lstStyle/>
          <a:p>
            <a:pPr indent="0" marL="0">
              <a:spcAft>
                <a:spcPts val="600"/>
              </a:spcAft>
              <a:buNone/>
            </a:pPr>
            <a:r>
              <a:rPr lang="en-US" sz="1800" dirty="0">
                <a:solidFill>
                  <a:schemeClr val="accent5"/>
                </a:solidFill>
                <a:latin typeface="Courier New" pitchFamily="34" charset="0"/>
                <a:ea typeface="Courier New" pitchFamily="34" charset="-122"/>
                <a:cs typeface="Courier New" pitchFamily="34" charset="-120"/>
              </a:rPr>
              <a:t>git clone https://github.com/savir18/CN.git</a:t>
            </a:r>
            <a:endParaRPr lang="en-US" sz="1800" dirty="0"/>
          </a:p>
          <a:p>
            <a:pPr indent="0" marL="0">
              <a:spcAft>
                <a:spcPts val="600"/>
              </a:spcAft>
              <a:buNone/>
            </a:pPr>
            <a:r>
              <a:rPr lang="en-US" sz="1800" dirty="0">
                <a:solidFill>
                  <a:schemeClr val="accent5"/>
                </a:solidFill>
                <a:latin typeface="Courier New" pitchFamily="34" charset="0"/>
                <a:ea typeface="Courier New" pitchFamily="34" charset="-122"/>
                <a:cs typeface="Courier New" pitchFamily="34" charset="-120"/>
              </a:rPr>
              <a:t>open f1_team34_index.html</a:t>
            </a:r>
            <a:endParaRPr lang="en-US" sz="1800" dirty="0"/>
          </a:p>
          <a:p>
            <a:pPr indent="0" marL="0">
              <a:spcAft>
                <a:spcPts val="600"/>
              </a:spcAft>
              <a:buNone/>
            </a:pPr>
            <a:r>
              <a:rPr lang="en-US" sz="1800" dirty="0">
                <a:solidFill>
                  <a:schemeClr val="accent5"/>
                </a:solidFill>
                <a:latin typeface="Courier New" pitchFamily="34" charset="0"/>
                <a:ea typeface="Courier New" pitchFamily="34" charset="-122"/>
                <a:cs typeface="Courier New" pitchFamily="34" charset="-120"/>
              </a:rPr>
              <a:t>node tests/f1_team34_tests.js</a:t>
            </a:r>
            <a:endParaRPr lang="en-US" sz="1800" dirty="0"/>
          </a:p>
          <a:p>
            <a:pPr indent="0" marL="0">
              <a:spcAft>
                <a:spcPts val="600"/>
              </a:spcAft>
              <a:buNone/>
            </a:pPr>
            <a:r>
              <a:rPr lang="en-US" sz="1800" dirty="0">
                <a:solidFill>
                  <a:schemeClr val="accent5"/>
                </a:solidFill>
                <a:latin typeface="Courier New" pitchFamily="34" charset="0"/>
                <a:ea typeface="Courier New" pitchFamily="34" charset="-122"/>
                <a:cs typeface="Courier New" pitchFamily="34" charset="-120"/>
              </a:rPr>
              <a:t>node scripts/f1_team34_experiments.js</a:t>
            </a:r>
            <a:endParaRPr lang="en-US" sz="1800" dirty="0"/>
          </a:p>
        </p:txBody>
      </p:sp>
      <p:sp>
        <p:nvSpPr>
          <p:cNvPr id="4" name="Text 2"/>
          <p:cNvSpPr txBox="1"/>
          <p:nvPr/>
        </p:nvSpPr>
        <p:spPr>
          <a:xfrm>
            <a:off x="731520" y="4114800"/>
            <a:ext cx="6400800" cy="320040"/>
          </a:xfrm>
          <a:prstGeom prst="rect">
            <a:avLst/>
          </a:prstGeom>
          <a:noFill/>
          <a:ln/>
        </p:spPr>
        <p:txBody>
          <a:bodyPr wrap="square" lIns="0" tIns="0" rIns="0" bIns="0" rtlCol="0" anchor="t"/>
          <a:lstStyle/>
          <a:p>
            <a:pPr indent="0" marL="0">
              <a:buNone/>
            </a:pPr>
            <a:r>
              <a:rPr lang="en-US" sz="1500" b="1" dirty="0">
                <a:solidFill>
                  <a:schemeClr val="bg1"/>
                </a:solidFill>
              </a:rPr>
              <a:t>Key references</a:t>
            </a:r>
            <a:endParaRPr lang="en-US" sz="1500" dirty="0"/>
          </a:p>
        </p:txBody>
      </p:sp>
      <p:sp>
        <p:nvSpPr>
          <p:cNvPr id="5" name="Text 3"/>
          <p:cNvSpPr txBox="1"/>
          <p:nvPr/>
        </p:nvSpPr>
        <p:spPr>
          <a:xfrm>
            <a:off x="731520" y="4480560"/>
            <a:ext cx="7498080" cy="1737360"/>
          </a:xfrm>
          <a:prstGeom prst="rect">
            <a:avLst/>
          </a:prstGeom>
          <a:noFill/>
          <a:ln/>
        </p:spPr>
        <p:txBody>
          <a:bodyPr wrap="square" lIns="0" tIns="0" rIns="0" bIns="0" rtlCol="0" anchor="t"/>
          <a:lstStyle/>
          <a:p>
            <a:pPr indent="0" marL="0">
              <a:spcAft>
                <a:spcPts val="300"/>
              </a:spcAft>
              <a:buNone/>
            </a:pPr>
            <a:r>
              <a:rPr lang="en-US" sz="1300" dirty="0">
                <a:solidFill>
                  <a:schemeClr val="accent5"/>
                </a:solidFill>
              </a:rPr>
              <a:t>Kurose and Ross, Computer Networking, 8th ed., 2021</a:t>
            </a:r>
            <a:endParaRPr lang="en-US" sz="1300" dirty="0"/>
          </a:p>
          <a:p>
            <a:pPr indent="0" marL="0">
              <a:spcAft>
                <a:spcPts val="300"/>
              </a:spcAft>
              <a:buNone/>
            </a:pPr>
            <a:r>
              <a:rPr lang="en-US" sz="1300" dirty="0">
                <a:solidFill>
                  <a:schemeClr val="accent5"/>
                </a:solidFill>
              </a:rPr>
              <a:t>Jacobson, Congestion avoidance and control, SIGCOMM CCR, 1988</a:t>
            </a:r>
            <a:endParaRPr lang="en-US" sz="1300" dirty="0"/>
          </a:p>
          <a:p>
            <a:pPr indent="0" marL="0">
              <a:spcAft>
                <a:spcPts val="300"/>
              </a:spcAft>
              <a:buNone/>
            </a:pPr>
            <a:r>
              <a:rPr lang="en-US" sz="1300" dirty="0">
                <a:solidFill>
                  <a:schemeClr val="accent5"/>
                </a:solidFill>
              </a:rPr>
              <a:t>Fall and Floyd, Tahoe, Reno and SACK TCP, SIGCOMM CCR, 1996</a:t>
            </a:r>
            <a:endParaRPr lang="en-US" sz="1300" dirty="0"/>
          </a:p>
          <a:p>
            <a:pPr indent="0" marL="0">
              <a:spcAft>
                <a:spcPts val="300"/>
              </a:spcAft>
              <a:buNone/>
            </a:pPr>
            <a:r>
              <a:rPr lang="en-US" sz="1300" dirty="0">
                <a:solidFill>
                  <a:schemeClr val="accent5"/>
                </a:solidFill>
              </a:rPr>
              <a:t>Demers, Keshav, Shenker, Fair queueing, SIGCOMM, 1989</a:t>
            </a:r>
            <a:endParaRPr lang="en-US" sz="1300" dirty="0"/>
          </a:p>
          <a:p>
            <a:pPr indent="0" marL="0">
              <a:spcAft>
                <a:spcPts val="300"/>
              </a:spcAft>
              <a:buNone/>
            </a:pPr>
            <a:r>
              <a:rPr lang="en-US" sz="1300" dirty="0">
                <a:solidFill>
                  <a:schemeClr val="accent5"/>
                </a:solidFill>
              </a:rPr>
              <a:t>Henderson, Lacage, Riley, ns-3, 2008; Lantz et al., Mininet, 2010</a:t>
            </a:r>
            <a:endParaRPr lang="en-US" sz="1300" dirty="0"/>
          </a:p>
        </p:txBody>
      </p:sp>
      <p:pic>
        <p:nvPicPr>
          <p:cNvPr id="6" name="closing screenshot" descr="The Queuing and QoS lab">    </p:cNvPr>
          <p:cNvPicPr>
            <a:picLocks noChangeAspect="1"/>
          </p:cNvPicPr>
          <p:nvPr/>
        </p:nvPicPr>
        <p:blipFill>
          <a:blip r:embed="rId1"/>
          <a:stretch>
            <a:fillRect/>
          </a:stretch>
        </p:blipFill>
        <p:spPr>
          <a:xfrm>
            <a:off x="8229600" y="2571750"/>
            <a:ext cx="3474720" cy="2171700"/>
          </a:xfrm>
          <a:prstGeom prst="rect">
            <a:avLst/>
          </a:prstGeom>
        </p:spPr>
      </p:pic>
    </p:spTree>
  </p:cSld>
  <p:clrMapOvr>
    <a:masterClrMapping/>
  </p:clrMapOvr>
</p:sld>
</file>

<file path=ppt/theme/theme1.xml><?xml version="1.0" encoding="utf-8"?>
<a:theme xmlns:a="http://schemas.openxmlformats.org/drawingml/2006/main" name="Protocol Lab">
  <a:themeElements>
    <a:clrScheme name="Protocol Lab">
      <a:dk1>
        <a:srgbClr val="151A2B"/>
      </a:dk1>
      <a:lt1>
        <a:srgbClr val="FFFFFF"/>
      </a:lt1>
      <a:dk2>
        <a:srgbClr val="0F1B33"/>
      </a:dk2>
      <a:lt2>
        <a:srgbClr val="F4F5F9"/>
      </a:lt2>
      <a:accent1>
        <a:srgbClr val="2F5BEA"/>
      </a:accent1>
      <a:accent2>
        <a:srgbClr val="E07B00"/>
      </a:accent2>
      <a:accent3>
        <a:srgbClr val="2E9E6B"/>
      </a:accent3>
      <a:accent4>
        <a:srgbClr val="596075"/>
      </a:accent4>
      <a:accent5>
        <a:srgbClr val="8E98FF"/>
      </a:accent5>
      <a:accent6>
        <a:srgbClr val="C23B3B"/>
      </a:accent6>
      <a:hlink>
        <a:srgbClr val="2F5BEA"/>
      </a:hlink>
      <a:folHlink>
        <a:srgbClr val="596075"/>
      </a:folHlink>
    </a:clrScheme>
    <a:fontScheme name="Protocol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 Lab: An Interactive Computer Networks Simulator</dc:title>
  <dc:subject>PptxGenJS Presentation</dc:subject>
  <dc:creator>Savir Ghai</dc:creator>
  <cp:lastModifiedBy>Savir Ghai</cp:lastModifiedBy>
  <cp:revision>1</cp:revision>
  <dcterms:created xsi:type="dcterms:W3CDTF">2026-10-31T16:16:12Z</dcterms:created>
  <dcterms:modified xsi:type="dcterms:W3CDTF">2026-10-31T16:16:12Z</dcterms:modified>
</cp:coreProperties>
</file>